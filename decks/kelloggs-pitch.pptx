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43DC2B-743D-40C6-9FEE-B70823001650}" v="2" dt="2026-05-28T22:24:17.2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 cawthorne" userId="2eb7cef10a63c26d" providerId="LiveId" clId="{874E8BAB-0CC2-43D0-83E3-69927A679BAA}"/>
    <pc:docChg chg="undo custSel modSld">
      <pc:chgData name="seb cawthorne" userId="2eb7cef10a63c26d" providerId="LiveId" clId="{874E8BAB-0CC2-43D0-83E3-69927A679BAA}" dt="2026-05-29T11:32:36.978" v="186" actId="20577"/>
      <pc:docMkLst>
        <pc:docMk/>
      </pc:docMkLst>
      <pc:sldChg chg="addSp delSp modSp mod">
        <pc:chgData name="seb cawthorne" userId="2eb7cef10a63c26d" providerId="LiveId" clId="{874E8BAB-0CC2-43D0-83E3-69927A679BAA}" dt="2026-05-28T22:25:07.792" v="117" actId="1076"/>
        <pc:sldMkLst>
          <pc:docMk/>
          <pc:sldMk cId="0" sldId="256"/>
        </pc:sldMkLst>
        <pc:spChg chg="mod">
          <ac:chgData name="seb cawthorne" userId="2eb7cef10a63c26d" providerId="LiveId" clId="{874E8BAB-0CC2-43D0-83E3-69927A679BAA}" dt="2026-05-28T22:24:45.145" v="114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seb cawthorne" userId="2eb7cef10a63c26d" providerId="LiveId" clId="{874E8BAB-0CC2-43D0-83E3-69927A679BAA}" dt="2026-05-28T22:23:57.606" v="102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seb cawthorne" userId="2eb7cef10a63c26d" providerId="LiveId" clId="{874E8BAB-0CC2-43D0-83E3-69927A679BAA}" dt="2026-05-28T22:23:59.604" v="103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eb cawthorne" userId="2eb7cef10a63c26d" providerId="LiveId" clId="{874E8BAB-0CC2-43D0-83E3-69927A679BAA}" dt="2026-05-28T22:24:01.289" v="104" actId="478"/>
          <ac:spMkLst>
            <pc:docMk/>
            <pc:sldMk cId="0" sldId="256"/>
            <ac:spMk id="5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3:50:21.981" v="81" actId="6549"/>
          <ac:spMkLst>
            <pc:docMk/>
            <pc:sldMk cId="0" sldId="256"/>
            <ac:spMk id="11" creationId="{00000000-0000-0000-0000-000000000000}"/>
          </ac:spMkLst>
        </pc:spChg>
        <pc:spChg chg="add">
          <ac:chgData name="seb cawthorne" userId="2eb7cef10a63c26d" providerId="LiveId" clId="{874E8BAB-0CC2-43D0-83E3-69927A679BAA}" dt="2026-05-28T22:24:05.974" v="105"/>
          <ac:spMkLst>
            <pc:docMk/>
            <pc:sldMk cId="0" sldId="256"/>
            <ac:spMk id="12" creationId="{42B349A0-41DC-4B83-AC7F-988303D140DC}"/>
          </ac:spMkLst>
        </pc:spChg>
        <pc:picChg chg="add mod">
          <ac:chgData name="seb cawthorne" userId="2eb7cef10a63c26d" providerId="LiveId" clId="{874E8BAB-0CC2-43D0-83E3-69927A679BAA}" dt="2026-05-28T22:25:07.792" v="117" actId="1076"/>
          <ac:picMkLst>
            <pc:docMk/>
            <pc:sldMk cId="0" sldId="256"/>
            <ac:picMk id="14" creationId="{72041D49-4D30-2C9D-482C-150F45F7B41C}"/>
          </ac:picMkLst>
        </pc:picChg>
      </pc:sldChg>
      <pc:sldChg chg="modSp mod">
        <pc:chgData name="seb cawthorne" userId="2eb7cef10a63c26d" providerId="LiveId" clId="{874E8BAB-0CC2-43D0-83E3-69927A679BAA}" dt="2026-05-15T10:40:21.522" v="77" actId="20577"/>
        <pc:sldMkLst>
          <pc:docMk/>
          <pc:sldMk cId="0" sldId="257"/>
        </pc:sldMkLst>
        <pc:spChg chg="mod">
          <ac:chgData name="seb cawthorne" userId="2eb7cef10a63c26d" providerId="LiveId" clId="{874E8BAB-0CC2-43D0-83E3-69927A679BAA}" dt="2026-05-15T10:28:21.836" v="27" actId="20577"/>
          <ac:spMkLst>
            <pc:docMk/>
            <pc:sldMk cId="0" sldId="257"/>
            <ac:spMk id="7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39:37.147" v="29" actId="107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40:21.522" v="77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14.847" v="1" actId="20577"/>
          <ac:spMkLst>
            <pc:docMk/>
            <pc:sldMk cId="0" sldId="257"/>
            <ac:spMk id="30" creationId="{00000000-0000-0000-0000-000000000000}"/>
          </ac:spMkLst>
        </pc:spChg>
      </pc:sldChg>
      <pc:sldChg chg="modSp mod">
        <pc:chgData name="seb cawthorne" userId="2eb7cef10a63c26d" providerId="LiveId" clId="{874E8BAB-0CC2-43D0-83E3-69927A679BAA}" dt="2026-05-15T10:24:23.118" v="4" actId="20577"/>
        <pc:sldMkLst>
          <pc:docMk/>
          <pc:sldMk cId="0" sldId="258"/>
        </pc:sldMkLst>
        <pc:spChg chg="mod">
          <ac:chgData name="seb cawthorne" userId="2eb7cef10a63c26d" providerId="LiveId" clId="{874E8BAB-0CC2-43D0-83E3-69927A679BAA}" dt="2026-05-15T10:24:23.118" v="4" actId="20577"/>
          <ac:spMkLst>
            <pc:docMk/>
            <pc:sldMk cId="0" sldId="258"/>
            <ac:spMk id="21" creationId="{00000000-0000-0000-0000-000000000000}"/>
          </ac:spMkLst>
        </pc:spChg>
      </pc:sldChg>
      <pc:sldChg chg="delSp modSp mod">
        <pc:chgData name="seb cawthorne" userId="2eb7cef10a63c26d" providerId="LiveId" clId="{874E8BAB-0CC2-43D0-83E3-69927A679BAA}" dt="2026-05-15T10:45:29.428" v="80" actId="478"/>
        <pc:sldMkLst>
          <pc:docMk/>
          <pc:sldMk cId="0" sldId="259"/>
        </pc:sldMkLst>
        <pc:spChg chg="mod">
          <ac:chgData name="seb cawthorne" userId="2eb7cef10a63c26d" providerId="LiveId" clId="{874E8BAB-0CC2-43D0-83E3-69927A679BAA}" dt="2026-05-15T10:45:20.141" v="79" actId="1076"/>
          <ac:spMkLst>
            <pc:docMk/>
            <pc:sldMk cId="0" sldId="259"/>
            <ac:spMk id="29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30.458" v="9" actId="20577"/>
          <ac:spMkLst>
            <pc:docMk/>
            <pc:sldMk cId="0" sldId="259"/>
            <ac:spMk id="47" creationId="{00000000-0000-0000-0000-000000000000}"/>
          </ac:spMkLst>
        </pc:spChg>
      </pc:sldChg>
      <pc:sldChg chg="modSp mod">
        <pc:chgData name="seb cawthorne" userId="2eb7cef10a63c26d" providerId="LiveId" clId="{874E8BAB-0CC2-43D0-83E3-69927A679BAA}" dt="2026-05-28T22:27:27.317" v="132" actId="404"/>
        <pc:sldMkLst>
          <pc:docMk/>
          <pc:sldMk cId="0" sldId="260"/>
        </pc:sldMkLst>
        <pc:spChg chg="mod">
          <ac:chgData name="seb cawthorne" userId="2eb7cef10a63c26d" providerId="LiveId" clId="{874E8BAB-0CC2-43D0-83E3-69927A679BAA}" dt="2026-05-28T22:27:27.317" v="132" actId="404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36.173" v="12" actId="20577"/>
          <ac:spMkLst>
            <pc:docMk/>
            <pc:sldMk cId="0" sldId="260"/>
            <ac:spMk id="22" creationId="{00000000-0000-0000-0000-000000000000}"/>
          </ac:spMkLst>
        </pc:spChg>
      </pc:sldChg>
      <pc:sldChg chg="modSp mod">
        <pc:chgData name="seb cawthorne" userId="2eb7cef10a63c26d" providerId="LiveId" clId="{874E8BAB-0CC2-43D0-83E3-69927A679BAA}" dt="2026-05-28T22:26:47.106" v="121" actId="1076"/>
        <pc:sldMkLst>
          <pc:docMk/>
          <pc:sldMk cId="0" sldId="261"/>
        </pc:sldMkLst>
        <pc:spChg chg="mod">
          <ac:chgData name="seb cawthorne" userId="2eb7cef10a63c26d" providerId="LiveId" clId="{874E8BAB-0CC2-43D0-83E3-69927A679BAA}" dt="2026-05-28T22:26:47.106" v="121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41.665" v="15" actId="20577"/>
          <ac:spMkLst>
            <pc:docMk/>
            <pc:sldMk cId="0" sldId="261"/>
            <ac:spMk id="22" creationId="{00000000-0000-0000-0000-000000000000}"/>
          </ac:spMkLst>
        </pc:spChg>
      </pc:sldChg>
      <pc:sldChg chg="addSp delSp modSp mod">
        <pc:chgData name="seb cawthorne" userId="2eb7cef10a63c26d" providerId="LiveId" clId="{874E8BAB-0CC2-43D0-83E3-69927A679BAA}" dt="2026-05-29T11:32:36.978" v="186" actId="20577"/>
        <pc:sldMkLst>
          <pc:docMk/>
          <pc:sldMk cId="0" sldId="262"/>
        </pc:sldMkLst>
        <pc:spChg chg="mod">
          <ac:chgData name="seb cawthorne" userId="2eb7cef10a63c26d" providerId="LiveId" clId="{874E8BAB-0CC2-43D0-83E3-69927A679BAA}" dt="2026-05-29T11:32:18.756" v="173" actId="20577"/>
          <ac:spMkLst>
            <pc:docMk/>
            <pc:sldMk cId="0" sldId="262"/>
            <ac:spMk id="7" creationId="{00000000-0000-0000-0000-000000000000}"/>
          </ac:spMkLst>
        </pc:spChg>
        <pc:spChg chg="add del mod">
          <ac:chgData name="seb cawthorne" userId="2eb7cef10a63c26d" providerId="LiveId" clId="{874E8BAB-0CC2-43D0-83E3-69927A679BAA}" dt="2026-05-29T11:32:29.336" v="174" actId="1038"/>
          <ac:spMkLst>
            <pc:docMk/>
            <pc:sldMk cId="0" sldId="262"/>
            <ac:spMk id="8" creationId="{00000000-0000-0000-0000-000000000000}"/>
          </ac:spMkLst>
        </pc:spChg>
        <pc:spChg chg="mod">
          <ac:chgData name="seb cawthorne" userId="2eb7cef10a63c26d" providerId="LiveId" clId="{874E8BAB-0CC2-43D0-83E3-69927A679BAA}" dt="2026-05-29T11:32:36.978" v="186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eb cawthorne" userId="2eb7cef10a63c26d" providerId="LiveId" clId="{874E8BAB-0CC2-43D0-83E3-69927A679BAA}" dt="2026-05-28T22:27:15.171" v="130" actId="1410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46.141" v="17" actId="20577"/>
          <ac:spMkLst>
            <pc:docMk/>
            <pc:sldMk cId="0" sldId="262"/>
            <ac:spMk id="21" creationId="{00000000-0000-0000-0000-000000000000}"/>
          </ac:spMkLst>
        </pc:spChg>
      </pc:sldChg>
      <pc:sldChg chg="modSp mod">
        <pc:chgData name="seb cawthorne" userId="2eb7cef10a63c26d" providerId="LiveId" clId="{874E8BAB-0CC2-43D0-83E3-69927A679BAA}" dt="2026-05-28T22:02:22.337" v="101" actId="14100"/>
        <pc:sldMkLst>
          <pc:docMk/>
          <pc:sldMk cId="0" sldId="263"/>
        </pc:sldMkLst>
        <pc:spChg chg="mod">
          <ac:chgData name="seb cawthorne" userId="2eb7cef10a63c26d" providerId="LiveId" clId="{874E8BAB-0CC2-43D0-83E3-69927A679BAA}" dt="2026-05-28T22:01:51.338" v="97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eb cawthorne" userId="2eb7cef10a63c26d" providerId="LiveId" clId="{874E8BAB-0CC2-43D0-83E3-69927A679BAA}" dt="2026-05-28T22:01:21.160" v="86" actId="1076"/>
          <ac:spMkLst>
            <pc:docMk/>
            <pc:sldMk cId="0" sldId="263"/>
            <ac:spMk id="13" creationId="{00000000-0000-0000-0000-000000000000}"/>
          </ac:spMkLst>
        </pc:spChg>
        <pc:spChg chg="mod">
          <ac:chgData name="seb cawthorne" userId="2eb7cef10a63c26d" providerId="LiveId" clId="{874E8BAB-0CC2-43D0-83E3-69927A679BAA}" dt="2026-05-28T22:01:30.604" v="92" actId="40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eb cawthorne" userId="2eb7cef10a63c26d" providerId="LiveId" clId="{874E8BAB-0CC2-43D0-83E3-69927A679BAA}" dt="2026-05-28T22:02:09.858" v="100" actId="107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seb cawthorne" userId="2eb7cef10a63c26d" providerId="LiveId" clId="{874E8BAB-0CC2-43D0-83E3-69927A679BAA}" dt="2026-05-28T22:02:22.337" v="101" actId="14100"/>
          <ac:spMkLst>
            <pc:docMk/>
            <pc:sldMk cId="0" sldId="263"/>
            <ac:spMk id="25" creationId="{00000000-0000-0000-0000-000000000000}"/>
          </ac:spMkLst>
        </pc:spChg>
        <pc:spChg chg="mod">
          <ac:chgData name="seb cawthorne" userId="2eb7cef10a63c26d" providerId="LiveId" clId="{874E8BAB-0CC2-43D0-83E3-69927A679BAA}" dt="2026-05-15T10:24:49.973" v="20" actId="20577"/>
          <ac:spMkLst>
            <pc:docMk/>
            <pc:sldMk cId="0" sldId="263"/>
            <ac:spMk id="28" creationId="{00000000-0000-0000-0000-000000000000}"/>
          </ac:spMkLst>
        </pc:spChg>
      </pc:sldChg>
      <pc:sldChg chg="modSp mod">
        <pc:chgData name="seb cawthorne" userId="2eb7cef10a63c26d" providerId="LiveId" clId="{874E8BAB-0CC2-43D0-83E3-69927A679BAA}" dt="2026-05-15T10:24:53.361" v="23" actId="20577"/>
        <pc:sldMkLst>
          <pc:docMk/>
          <pc:sldMk cId="0" sldId="264"/>
        </pc:sldMkLst>
        <pc:spChg chg="mod">
          <ac:chgData name="seb cawthorne" userId="2eb7cef10a63c26d" providerId="LiveId" clId="{874E8BAB-0CC2-43D0-83E3-69927A679BAA}" dt="2026-05-15T10:24:53.361" v="23" actId="20577"/>
          <ac:spMkLst>
            <pc:docMk/>
            <pc:sldMk cId="0" sldId="264"/>
            <ac:spMk id="2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524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17280" y="0"/>
            <a:ext cx="3474720" cy="68580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PITCH  ·  KELLOGG'S 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what's working.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alongside your PI System.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640080" cy="36576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about how Kellogg's can get even more out of the data PI is already collecting — starting at Battle Creek, then scaling to all 50 sites.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sales pitch  ·  </a:t>
            </a:r>
            <a:r>
              <a:rPr lang="en-US" sz="1000">
                <a:solidFill>
                  <a:srgbClr val="8A9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 </a:t>
            </a:r>
            <a:r>
              <a:rPr lang="en-US" sz="1000" dirty="0">
                <a:solidFill>
                  <a:srgbClr val="8A94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2041D49-4D30-2C9D-482C-150F45F7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280" y="2354580"/>
            <a:ext cx="34747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UNDERSTANDING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the Kellogg's landscape as I see it.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correct us where we're wrong — this shapes everything that follows.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02920" y="2514600"/>
            <a:ext cx="54864" cy="17830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BACKBONE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71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 across the estate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of record for time-series operational data.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251460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217920" y="2514600"/>
            <a:ext cx="54864" cy="17830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92240" y="2697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2971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 manufacturing sites worldwide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7472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Creek is the proving ground.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52628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02920" y="4526280"/>
            <a:ext cx="54864" cy="17830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OUTCOME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983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$3.3M annual savings, one site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54864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Kellogg's already turns operational data into financial outcomes.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4406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6217920" y="4526280"/>
            <a:ext cx="54864" cy="178308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49224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COMMITMENTS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498348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and 2050 sustainability targets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92240" y="54864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Energy, water and Scope 1–3 emissions, publicly measured.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proved the model at one site. Databricks scales it across 50.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3657600" cy="73152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PI DELIVERED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$3.3M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energy savings at Battle Creek.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result from PI doing exactly what it was built for.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715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AVEVA, Kellogg's case study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4389120"/>
            <a:ext cx="228600" cy="228600"/>
          </a:xfrm>
          <a:prstGeom prst="rt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6812280" cy="32004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120640" y="3063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DATABRICKS TAKES 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34290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that result. Then go beyond it.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20640" y="420624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Creek is the floor, not the ceiling. Databricks lets Kellogg's apply the same data-driven approach across all 50 sites — and unlock things PI alone wasn't built for: enterprise-wide AI, IT/OT data joined together, and live data sharing with partners and regulators.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FITS TOGETHER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stays where it is. Databricks sits alongside.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Kellogg's keeps PI doing what it's good at. Databricks plugs in next to it and adds the analytics, AI and sharing capabilities PI was never designed for.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— PLANT FLOOR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2606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LAKEHOUSE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92608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PI System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 ·  unchanged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3108960" cy="548640"/>
          </a:xfrm>
          <a:prstGeom prst="rect">
            <a:avLst/>
          </a:prstGeom>
          <a:solidFill>
            <a:srgbClr val="F1F4F5"/>
          </a:solidFill>
          <a:ln w="6350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86868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Data Archive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4087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historian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3108960" cy="548640"/>
          </a:xfrm>
          <a:prstGeom prst="rect">
            <a:avLst/>
          </a:prstGeom>
          <a:solidFill>
            <a:srgbClr val="F1F4F5"/>
          </a:solidFill>
          <a:ln w="6350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868680" y="45445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Asset Framework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7731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&amp; context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5166360"/>
            <a:ext cx="3108960" cy="548640"/>
          </a:xfrm>
          <a:prstGeom prst="rect">
            <a:avLst/>
          </a:prstGeom>
          <a:solidFill>
            <a:srgbClr val="F1F4F5"/>
          </a:solidFill>
          <a:ln w="6350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68680" y="52303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Vision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54589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dashboards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60350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·  PLCs  ·  MES  ·  energy meters  ·  ~50 sites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3291840"/>
            <a:ext cx="27432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2976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AVEVA CONNECT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97680" y="3794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Databricks integration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480560" y="41605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PI tag values and AF context to the Lakehouse — no rip-and-replace.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14800" y="4370832"/>
            <a:ext cx="164592" cy="146304"/>
          </a:xfrm>
          <a:prstGeom prst="rt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31" name="Shape 29"/>
          <p:cNvSpPr/>
          <p:nvPr/>
        </p:nvSpPr>
        <p:spPr>
          <a:xfrm>
            <a:off x="7086600" y="4370832"/>
            <a:ext cx="164592" cy="146304"/>
          </a:xfrm>
          <a:prstGeom prst="rtTriangle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297680" y="5669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 +  batch  ·  governed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9480" y="2926080"/>
            <a:ext cx="4389120" cy="3017520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7452360" y="30632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 Lakehouse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452360" y="3383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 ·  Delta Lake  ·  governed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98080" y="3794760"/>
            <a:ext cx="393192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635240" y="38587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732520" y="3886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PI tags + IT sources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4480560"/>
            <a:ext cx="393192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7635240" y="45445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32520" y="4572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Cleaned, joined, contextualised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98080" y="5166360"/>
            <a:ext cx="3931920" cy="548640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7635240" y="5230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732520" y="52578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features  ·  KPIs  ·  shared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269480" y="6035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BI  ·  ML models  ·  Delta Sharing to partners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1 OF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analytics &amp; streaming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4406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4068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and batch in one engine.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572000"/>
            <a:ext cx="4937760" cy="788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pipeline handles live PI tag data and historical replays — acting on it as it lands, not the next morning.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440680" cy="3657600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KELLOGG'S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Line-level OEE in real time, not in tomorrow's report.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3886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PI surfaces what happened on the cereal line. Streaming the same tags into Databricks means a downtime event triggers a model the moment it starts — not after the shift ends.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5074920"/>
            <a:ext cx="4937760" cy="6858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29400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10–15%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92440" y="5120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 uplift — manufacturing average across Databricks customers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5989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Xorbix industry report, 2025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OF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analytics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54406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4068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historian to forecaster.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370831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records what happened. Databricks uses that history to predict what's about to happen — energy, yield, equipment failures.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440680" cy="3657600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KELLOGG'S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on extruders, ovens and packaging lines.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Vibration, temperature and motor-current tags from PI become training data for failure-prediction models — moving Kellogg's from scheduled maintenance to condition-based maintenance.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5074920"/>
            <a:ext cx="4937760" cy="6858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29400" y="5120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092440" y="512064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cost reduction — predictive maintenance benchmark, manufacturing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598932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Xorbix industry report, 2025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3 OF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Sharing &amp; Unity Catalogue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40027" y="2359152"/>
            <a:ext cx="544068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286000"/>
            <a:ext cx="544068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CAPABILITY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017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live data, not file dumps.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1B3139"/>
                </a:solidFill>
                <a:latin typeface="Arial" pitchFamily="34" charset="0"/>
                <a:cs typeface="Arial" pitchFamily="34" charset="-120"/>
              </a:rPr>
              <a:t>Governance.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77240" y="4311529"/>
            <a:ext cx="5013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and regulators read live tables directly — governed at the column level. This is the thing PI alone simply can't do.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2286000"/>
            <a:ext cx="5440680" cy="3657600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KELLOGG'S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Sustainability reporting that doesn't require an army.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1605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D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live Scope 1–3 emissions data and energy usage with auditors, retailers (Walmart, Tesco) and regulators directly — no quarterly spreadsheet exports, no version mismatches, no rework.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5074920"/>
            <a:ext cx="4937760" cy="68580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629400" y="51206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line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366760" y="512064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2030 and 2050 sustainability commitments — already public, already measured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 unified OT and IT data alongside its existing systems.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365760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data, fragmented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06643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BP's data lived across refineries, trading desks and corporate systems — rich, but siloed. Engineers spent more time stitching data together than analysing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250095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365760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2628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DID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Unified Data Experience on Databricks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26280" y="406908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their existing systems in place. Used Databricks as the platform to unify, govern (Unity Catalog) and serve data to the people who needed 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92440" y="24688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092440" y="2468880"/>
            <a:ext cx="3657600" cy="73152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31089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productivity boost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21040" y="406643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Decentralised data ownership, faster discovery, optimised compute costs, consistent quality — and a single portal for the enterprise to find and use data.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" y="5943600"/>
            <a:ext cx="11155680" cy="502920"/>
          </a:xfrm>
          <a:prstGeom prst="rect">
            <a:avLst/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731520" y="6016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applies to Kellogg's: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60035" y="6016752"/>
            <a:ext cx="82614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had refineries, historians and global operations. Kellogg's has plants, PI and 50 sites. Same pattern — keep what works, add intelligence on top.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76072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Databricks BP customer story, databricks.com/customers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9728" cy="109728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557784" y="466344"/>
            <a:ext cx="109728" cy="109728"/>
          </a:xfrm>
          <a:prstGeom prst="rect">
            <a:avLst/>
          </a:prstGeom>
          <a:solidFill>
            <a:srgbClr val="FF3621">
              <a:alpha val="6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612648" y="521208"/>
            <a:ext cx="109728" cy="109728"/>
          </a:xfrm>
          <a:prstGeom prst="rect">
            <a:avLst/>
          </a:prstGeom>
          <a:solidFill>
            <a:srgbClr val="FF3621">
              <a:alpha val="35000"/>
            </a:srgbClr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58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 ·  for Kellogg's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WE'D LIKE TO GO NEXT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concrete steps.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914400" cy="5029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QUARTER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 your business stakeholder for a business demo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session with the people who'll actually use this — operations, sustainability and supply chain leads. Real Kellogg's questions, real Databricks answers.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297680" y="2468880"/>
            <a:ext cx="914400" cy="5029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29768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QUARTER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— today's architecture vs future architecture for Kellogg's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Half-day with your data, OT and plant engineering leads. Current state mapped against target state. Output: a one-page reference architecture for Kellogg's.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92440" y="246888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8092440" y="2468880"/>
            <a:ext cx="914400" cy="502920"/>
          </a:xfrm>
          <a:prstGeom prst="rect">
            <a:avLst/>
          </a:prstGeom>
          <a:solidFill>
            <a:srgbClr val="FF3621"/>
          </a:solidFill>
          <a:ln w="12700">
            <a:solidFill>
              <a:srgbClr val="FF362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8092440" y="2468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66760" y="3566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Invitation to Databricks Data + AI Summit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66760" y="48006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flagship annual event in San Francisco. Manufacturing track, peer conversations with companies like BP, and hands-on sessions on the capabilities discussed today.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1B31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 Questions welcome.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02920" y="6492240"/>
            <a:ext cx="11155680" cy="0"/>
          </a:xfrm>
          <a:prstGeom prst="line">
            <a:avLst/>
          </a:prstGeom>
          <a:noFill/>
          <a:ln w="9525">
            <a:solidFill>
              <a:srgbClr val="DCE0E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02920" y="6565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985</TotalTime>
  <Words>1059</Words>
  <Application>Microsoft Office PowerPoint</Application>
  <PresentationFormat>Widescreen</PresentationFormat>
  <Paragraphs>153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Databricks for Kellogg's</dc:title>
  <dc:subject>PptxGenJS Presentation</dc:subject>
  <dc:creator>Databricks</dc:creator>
  <cp:lastModifiedBy>seb cawthorne</cp:lastModifiedBy>
  <cp:revision>1</cp:revision>
  <dcterms:created xsi:type="dcterms:W3CDTF">2026-05-14T21:03:11Z</dcterms:created>
  <dcterms:modified xsi:type="dcterms:W3CDTF">2026-05-29T11:33:06Z</dcterms:modified>
</cp:coreProperties>
</file>