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7.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9"/>
  </p:notesMasterIdLst>
  <p:sldIdLst>
    <p:sldId id="256" r:id="rId2"/>
    <p:sldId id="257" r:id="rId3"/>
    <p:sldId id="262" r:id="rId4"/>
    <p:sldId id="259" r:id="rId5"/>
    <p:sldId id="260" r:id="rId6"/>
    <p:sldId id="261" r:id="rId7"/>
    <p:sldId id="263" r:id="rId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EEDE9"/>
    <a:srgbClr val="F9F7F4"/>
    <a:srgbClr val="0B2026"/>
    <a:srgbClr val="FF362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55EDF82-90B2-4AAA-976C-046F7BAF0CA9}" v="1" dt="2026-06-29T10:09:31.66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000" autoAdjust="0"/>
    <p:restoredTop sz="69272" autoAdjust="0"/>
  </p:normalViewPr>
  <p:slideViewPr>
    <p:cSldViewPr snapToGrid="0">
      <p:cViewPr varScale="1">
        <p:scale>
          <a:sx n="45" d="100"/>
          <a:sy n="45" d="100"/>
        </p:scale>
        <p:origin x="972"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5" Type="http://schemas.microsoft.com/office/2015/10/relationships/revisionInfo" Target="revisionInfo.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 Id="rId14"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b cawthorne" userId="2eb7cef10a63c26d" providerId="LiveId" clId="{874E8BAB-0CC2-43D0-83E3-69927A679BAA}"/>
    <pc:docChg chg="undo custSel addSld delSld modSld">
      <pc:chgData name="seb cawthorne" userId="2eb7cef10a63c26d" providerId="LiveId" clId="{874E8BAB-0CC2-43D0-83E3-69927A679BAA}" dt="2026-06-29T10:09:31.664" v="2489" actId="1076"/>
      <pc:docMkLst>
        <pc:docMk/>
      </pc:docMkLst>
      <pc:sldChg chg="addSp modSp mod setBg addAnim">
        <pc:chgData name="seb cawthorne" userId="2eb7cef10a63c26d" providerId="LiveId" clId="{874E8BAB-0CC2-43D0-83E3-69927A679BAA}" dt="2026-06-29T10:09:31.664" v="2489" actId="1076"/>
        <pc:sldMkLst>
          <pc:docMk/>
          <pc:sldMk cId="1001813379" sldId="256"/>
        </pc:sldMkLst>
        <pc:picChg chg="add mod">
          <ac:chgData name="seb cawthorne" userId="2eb7cef10a63c26d" providerId="LiveId" clId="{874E8BAB-0CC2-43D0-83E3-69927A679BAA}" dt="2026-06-29T10:09:31.664" v="2489" actId="1076"/>
          <ac:picMkLst>
            <pc:docMk/>
            <pc:sldMk cId="1001813379" sldId="256"/>
            <ac:picMk id="1028" creationId="{6E8FD53F-5033-9313-A543-6525889C4541}"/>
          </ac:picMkLst>
        </pc:picChg>
      </pc:sldChg>
    </pc:docChg>
  </pc:docChgLst>
</pc:chgInfo>
</file>

<file path=ppt/diagrams/_rels/data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image" Target="../media/image2.svg"/></Relationships>
</file>

<file path=ppt/diagrams/_rels/data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s>
</file>

<file path=ppt/diagrams/_rels/drawing1.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image" Target="../media/image2.svg"/></Relationships>
</file>

<file path=ppt/diagrams/_rels/drawing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image" Target="../media/image4.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3581B11-2942-4161-8C9E-BE20B04C9294}"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20C6C880-CC87-4189-9B50-878A89BD6975}">
      <dgm:prSet/>
      <dgm:spPr/>
      <dgm:t>
        <a:bodyPr/>
        <a:lstStyle/>
        <a:p>
          <a:pPr>
            <a:lnSpc>
              <a:spcPct val="100000"/>
            </a:lnSpc>
          </a:pPr>
          <a:r>
            <a:rPr lang="en-GB" dirty="0"/>
            <a:t>How can Databricks capabilities provide a better experience for ICG?</a:t>
          </a:r>
          <a:endParaRPr lang="en-US" dirty="0"/>
        </a:p>
      </dgm:t>
    </dgm:pt>
    <dgm:pt modelId="{07520B72-1EF0-4486-9161-456BCF8C2B41}" type="parTrans" cxnId="{FEDB19D5-E637-47D9-8979-18CFBA170E3A}">
      <dgm:prSet/>
      <dgm:spPr/>
      <dgm:t>
        <a:bodyPr/>
        <a:lstStyle/>
        <a:p>
          <a:endParaRPr lang="en-US"/>
        </a:p>
      </dgm:t>
    </dgm:pt>
    <dgm:pt modelId="{4878B8DB-E33F-462B-AB53-529FBDFA6B79}" type="sibTrans" cxnId="{FEDB19D5-E637-47D9-8979-18CFBA170E3A}">
      <dgm:prSet/>
      <dgm:spPr/>
      <dgm:t>
        <a:bodyPr/>
        <a:lstStyle/>
        <a:p>
          <a:endParaRPr lang="en-US"/>
        </a:p>
      </dgm:t>
    </dgm:pt>
    <dgm:pt modelId="{9E0F9F5E-6A9C-4102-B050-744AEC5E7D05}">
      <dgm:prSet/>
      <dgm:spPr/>
      <dgm:t>
        <a:bodyPr/>
        <a:lstStyle/>
        <a:p>
          <a:pPr>
            <a:lnSpc>
              <a:spcPct val="100000"/>
            </a:lnSpc>
          </a:pPr>
          <a:r>
            <a:rPr lang="en-GB"/>
            <a:t>Real-time analytics and streaming</a:t>
          </a:r>
          <a:endParaRPr lang="en-US"/>
        </a:p>
      </dgm:t>
    </dgm:pt>
    <dgm:pt modelId="{A372240E-C3EE-446D-BE71-877B19DB4A1C}" type="parTrans" cxnId="{83E03FFD-3DA5-4F32-8307-34EB1FFE9CB6}">
      <dgm:prSet/>
      <dgm:spPr/>
      <dgm:t>
        <a:bodyPr/>
        <a:lstStyle/>
        <a:p>
          <a:endParaRPr lang="en-US"/>
        </a:p>
      </dgm:t>
    </dgm:pt>
    <dgm:pt modelId="{5659FE7E-66C7-4A9B-99F3-B466850D8C9B}" type="sibTrans" cxnId="{83E03FFD-3DA5-4F32-8307-34EB1FFE9CB6}">
      <dgm:prSet/>
      <dgm:spPr/>
      <dgm:t>
        <a:bodyPr/>
        <a:lstStyle/>
        <a:p>
          <a:endParaRPr lang="en-US"/>
        </a:p>
      </dgm:t>
    </dgm:pt>
    <dgm:pt modelId="{D2F6820B-7FB2-4597-A28B-965E00109646}">
      <dgm:prSet/>
      <dgm:spPr/>
      <dgm:t>
        <a:bodyPr/>
        <a:lstStyle/>
        <a:p>
          <a:pPr>
            <a:lnSpc>
              <a:spcPct val="100000"/>
            </a:lnSpc>
          </a:pPr>
          <a:r>
            <a:rPr lang="en-GB"/>
            <a:t>Time-series analytics</a:t>
          </a:r>
          <a:endParaRPr lang="en-US"/>
        </a:p>
      </dgm:t>
    </dgm:pt>
    <dgm:pt modelId="{AEAE2CBF-BAF5-4ECF-9C78-3DAE8E9E33A3}" type="parTrans" cxnId="{7082F64A-F0F6-46A2-8508-D411D6A09AD0}">
      <dgm:prSet/>
      <dgm:spPr/>
      <dgm:t>
        <a:bodyPr/>
        <a:lstStyle/>
        <a:p>
          <a:endParaRPr lang="en-US"/>
        </a:p>
      </dgm:t>
    </dgm:pt>
    <dgm:pt modelId="{E94E7A5D-6D6C-4811-9F45-682483225A17}" type="sibTrans" cxnId="{7082F64A-F0F6-46A2-8508-D411D6A09AD0}">
      <dgm:prSet/>
      <dgm:spPr/>
      <dgm:t>
        <a:bodyPr/>
        <a:lstStyle/>
        <a:p>
          <a:endParaRPr lang="en-US"/>
        </a:p>
      </dgm:t>
    </dgm:pt>
    <dgm:pt modelId="{A73CBA59-066C-4017-B674-C96C5718BCE5}">
      <dgm:prSet/>
      <dgm:spPr/>
      <dgm:t>
        <a:bodyPr/>
        <a:lstStyle/>
        <a:p>
          <a:pPr>
            <a:lnSpc>
              <a:spcPct val="100000"/>
            </a:lnSpc>
          </a:pPr>
          <a:r>
            <a:rPr lang="en-GB"/>
            <a:t>Delta sharing </a:t>
          </a:r>
          <a:endParaRPr lang="en-US"/>
        </a:p>
      </dgm:t>
    </dgm:pt>
    <dgm:pt modelId="{F9F0BE7F-FBA4-402D-9F5C-8577054983B2}" type="parTrans" cxnId="{63AC92F9-53AE-48B3-8DEC-8D20CC854E2F}">
      <dgm:prSet/>
      <dgm:spPr/>
      <dgm:t>
        <a:bodyPr/>
        <a:lstStyle/>
        <a:p>
          <a:endParaRPr lang="en-US"/>
        </a:p>
      </dgm:t>
    </dgm:pt>
    <dgm:pt modelId="{376674CE-D39F-4433-881E-8C0023D4BB79}" type="sibTrans" cxnId="{63AC92F9-53AE-48B3-8DEC-8D20CC854E2F}">
      <dgm:prSet/>
      <dgm:spPr/>
      <dgm:t>
        <a:bodyPr/>
        <a:lstStyle/>
        <a:p>
          <a:endParaRPr lang="en-US"/>
        </a:p>
      </dgm:t>
    </dgm:pt>
    <dgm:pt modelId="{C449609D-17C3-4561-AA48-DA882B724798}">
      <dgm:prSet/>
      <dgm:spPr/>
      <dgm:t>
        <a:bodyPr/>
        <a:lstStyle/>
        <a:p>
          <a:pPr>
            <a:lnSpc>
              <a:spcPct val="100000"/>
            </a:lnSpc>
          </a:pPr>
          <a:r>
            <a:rPr lang="en-GB" dirty="0"/>
            <a:t>A case study to provide a first-hand account of how effective fully adopting Databricks is for ICG.</a:t>
          </a:r>
        </a:p>
      </dgm:t>
    </dgm:pt>
    <dgm:pt modelId="{26018049-0B24-4762-960D-539FA9F32062}" type="parTrans" cxnId="{36A25F25-746C-4BD9-9AC8-150E47217961}">
      <dgm:prSet/>
      <dgm:spPr/>
      <dgm:t>
        <a:bodyPr/>
        <a:lstStyle/>
        <a:p>
          <a:endParaRPr lang="en-US"/>
        </a:p>
      </dgm:t>
    </dgm:pt>
    <dgm:pt modelId="{02FC5BEF-14BA-4675-94C9-B912161945FB}" type="sibTrans" cxnId="{36A25F25-746C-4BD9-9AC8-150E47217961}">
      <dgm:prSet/>
      <dgm:spPr/>
      <dgm:t>
        <a:bodyPr/>
        <a:lstStyle/>
        <a:p>
          <a:endParaRPr lang="en-US"/>
        </a:p>
      </dgm:t>
    </dgm:pt>
    <dgm:pt modelId="{95DB01C3-3798-4E32-98A5-9D1451B2E230}" type="pres">
      <dgm:prSet presAssocID="{63581B11-2942-4161-8C9E-BE20B04C9294}" presName="root" presStyleCnt="0">
        <dgm:presLayoutVars>
          <dgm:dir/>
          <dgm:resizeHandles val="exact"/>
        </dgm:presLayoutVars>
      </dgm:prSet>
      <dgm:spPr/>
    </dgm:pt>
    <dgm:pt modelId="{73F7EC15-5DED-44C7-9E26-13F830398EC2}" type="pres">
      <dgm:prSet presAssocID="{20C6C880-CC87-4189-9B50-878A89BD6975}" presName="compNode" presStyleCnt="0"/>
      <dgm:spPr/>
    </dgm:pt>
    <dgm:pt modelId="{3EBB30F9-A5A4-424D-A5EA-048B021B9AE6}" type="pres">
      <dgm:prSet presAssocID="{20C6C880-CC87-4189-9B50-878A89BD6975}" presName="bgRect" presStyleLbl="bgShp" presStyleIdx="0" presStyleCnt="2"/>
      <dgm:spPr/>
    </dgm:pt>
    <dgm:pt modelId="{6F92EA0B-7A8F-46F5-A184-9A2864E72F7A}" type="pres">
      <dgm:prSet presAssocID="{20C6C880-CC87-4189-9B50-878A89BD6975}"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Statistics"/>
        </a:ext>
      </dgm:extLst>
    </dgm:pt>
    <dgm:pt modelId="{411D7151-F444-44C6-ABF3-D904E3CA1F6A}" type="pres">
      <dgm:prSet presAssocID="{20C6C880-CC87-4189-9B50-878A89BD6975}" presName="spaceRect" presStyleCnt="0"/>
      <dgm:spPr/>
    </dgm:pt>
    <dgm:pt modelId="{79C19F37-BA4F-4C0E-BF77-67FBF1F7E875}" type="pres">
      <dgm:prSet presAssocID="{20C6C880-CC87-4189-9B50-878A89BD6975}" presName="parTx" presStyleLbl="revTx" presStyleIdx="0" presStyleCnt="3">
        <dgm:presLayoutVars>
          <dgm:chMax val="0"/>
          <dgm:chPref val="0"/>
        </dgm:presLayoutVars>
      </dgm:prSet>
      <dgm:spPr/>
    </dgm:pt>
    <dgm:pt modelId="{88D906CA-D015-4CE1-9346-4B30F16C4063}" type="pres">
      <dgm:prSet presAssocID="{20C6C880-CC87-4189-9B50-878A89BD6975}" presName="desTx" presStyleLbl="revTx" presStyleIdx="1" presStyleCnt="3">
        <dgm:presLayoutVars/>
      </dgm:prSet>
      <dgm:spPr/>
    </dgm:pt>
    <dgm:pt modelId="{7DCCAE72-9C47-4342-B8E6-54EAAEEA227C}" type="pres">
      <dgm:prSet presAssocID="{4878B8DB-E33F-462B-AB53-529FBDFA6B79}" presName="sibTrans" presStyleCnt="0"/>
      <dgm:spPr/>
    </dgm:pt>
    <dgm:pt modelId="{5414EE2B-62F3-43DC-8373-C1BB0398C483}" type="pres">
      <dgm:prSet presAssocID="{C449609D-17C3-4561-AA48-DA882B724798}" presName="compNode" presStyleCnt="0"/>
      <dgm:spPr/>
    </dgm:pt>
    <dgm:pt modelId="{728929C3-0491-4F08-B2A9-9C7B37324E63}" type="pres">
      <dgm:prSet presAssocID="{C449609D-17C3-4561-AA48-DA882B724798}" presName="bgRect" presStyleLbl="bgShp" presStyleIdx="1" presStyleCnt="2"/>
      <dgm:spPr/>
    </dgm:pt>
    <dgm:pt modelId="{6A1445E4-B016-4BEE-AA58-5C86D722B4F1}" type="pres">
      <dgm:prSet presAssocID="{C449609D-17C3-4561-AA48-DA882B724798}"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Magnifying glass"/>
        </a:ext>
      </dgm:extLst>
    </dgm:pt>
    <dgm:pt modelId="{C96A0DE4-AFA3-437A-95F6-B6B16BDF7795}" type="pres">
      <dgm:prSet presAssocID="{C449609D-17C3-4561-AA48-DA882B724798}" presName="spaceRect" presStyleCnt="0"/>
      <dgm:spPr/>
    </dgm:pt>
    <dgm:pt modelId="{5309F0BB-77FD-4E4F-87A4-283CBE2F014C}" type="pres">
      <dgm:prSet presAssocID="{C449609D-17C3-4561-AA48-DA882B724798}" presName="parTx" presStyleLbl="revTx" presStyleIdx="2" presStyleCnt="3">
        <dgm:presLayoutVars>
          <dgm:chMax val="0"/>
          <dgm:chPref val="0"/>
        </dgm:presLayoutVars>
      </dgm:prSet>
      <dgm:spPr/>
    </dgm:pt>
  </dgm:ptLst>
  <dgm:cxnLst>
    <dgm:cxn modelId="{F8B40119-7A3D-4543-B8A9-7FFFDF707029}" type="presOf" srcId="{C449609D-17C3-4561-AA48-DA882B724798}" destId="{5309F0BB-77FD-4E4F-87A4-283CBE2F014C}" srcOrd="0" destOrd="0" presId="urn:microsoft.com/office/officeart/2018/2/layout/IconVerticalSolidList"/>
    <dgm:cxn modelId="{36A25F25-746C-4BD9-9AC8-150E47217961}" srcId="{63581B11-2942-4161-8C9E-BE20B04C9294}" destId="{C449609D-17C3-4561-AA48-DA882B724798}" srcOrd="1" destOrd="0" parTransId="{26018049-0B24-4762-960D-539FA9F32062}" sibTransId="{02FC5BEF-14BA-4675-94C9-B912161945FB}"/>
    <dgm:cxn modelId="{7082F64A-F0F6-46A2-8508-D411D6A09AD0}" srcId="{20C6C880-CC87-4189-9B50-878A89BD6975}" destId="{D2F6820B-7FB2-4597-A28B-965E00109646}" srcOrd="1" destOrd="0" parTransId="{AEAE2CBF-BAF5-4ECF-9C78-3DAE8E9E33A3}" sibTransId="{E94E7A5D-6D6C-4811-9F45-682483225A17}"/>
    <dgm:cxn modelId="{D32C8D6E-8F5A-4FDE-A076-0234651023F6}" type="presOf" srcId="{D2F6820B-7FB2-4597-A28B-965E00109646}" destId="{88D906CA-D015-4CE1-9346-4B30F16C4063}" srcOrd="0" destOrd="1" presId="urn:microsoft.com/office/officeart/2018/2/layout/IconVerticalSolidList"/>
    <dgm:cxn modelId="{74CA6F7B-D4F2-4D68-90D3-EB490E82AABD}" type="presOf" srcId="{20C6C880-CC87-4189-9B50-878A89BD6975}" destId="{79C19F37-BA4F-4C0E-BF77-67FBF1F7E875}" srcOrd="0" destOrd="0" presId="urn:microsoft.com/office/officeart/2018/2/layout/IconVerticalSolidList"/>
    <dgm:cxn modelId="{12D44181-2F96-49B5-BA81-DDC41D327B1F}" type="presOf" srcId="{63581B11-2942-4161-8C9E-BE20B04C9294}" destId="{95DB01C3-3798-4E32-98A5-9D1451B2E230}" srcOrd="0" destOrd="0" presId="urn:microsoft.com/office/officeart/2018/2/layout/IconVerticalSolidList"/>
    <dgm:cxn modelId="{70F52AC1-2DD7-4D87-9227-F158EE46BB07}" type="presOf" srcId="{A73CBA59-066C-4017-B674-C96C5718BCE5}" destId="{88D906CA-D015-4CE1-9346-4B30F16C4063}" srcOrd="0" destOrd="2" presId="urn:microsoft.com/office/officeart/2018/2/layout/IconVerticalSolidList"/>
    <dgm:cxn modelId="{FEDB19D5-E637-47D9-8979-18CFBA170E3A}" srcId="{63581B11-2942-4161-8C9E-BE20B04C9294}" destId="{20C6C880-CC87-4189-9B50-878A89BD6975}" srcOrd="0" destOrd="0" parTransId="{07520B72-1EF0-4486-9161-456BCF8C2B41}" sibTransId="{4878B8DB-E33F-462B-AB53-529FBDFA6B79}"/>
    <dgm:cxn modelId="{94C89FE1-8C95-4361-BE66-C959622BB312}" type="presOf" srcId="{9E0F9F5E-6A9C-4102-B050-744AEC5E7D05}" destId="{88D906CA-D015-4CE1-9346-4B30F16C4063}" srcOrd="0" destOrd="0" presId="urn:microsoft.com/office/officeart/2018/2/layout/IconVerticalSolidList"/>
    <dgm:cxn modelId="{63AC92F9-53AE-48B3-8DEC-8D20CC854E2F}" srcId="{20C6C880-CC87-4189-9B50-878A89BD6975}" destId="{A73CBA59-066C-4017-B674-C96C5718BCE5}" srcOrd="2" destOrd="0" parTransId="{F9F0BE7F-FBA4-402D-9F5C-8577054983B2}" sibTransId="{376674CE-D39F-4433-881E-8C0023D4BB79}"/>
    <dgm:cxn modelId="{83E03FFD-3DA5-4F32-8307-34EB1FFE9CB6}" srcId="{20C6C880-CC87-4189-9B50-878A89BD6975}" destId="{9E0F9F5E-6A9C-4102-B050-744AEC5E7D05}" srcOrd="0" destOrd="0" parTransId="{A372240E-C3EE-446D-BE71-877B19DB4A1C}" sibTransId="{5659FE7E-66C7-4A9B-99F3-B466850D8C9B}"/>
    <dgm:cxn modelId="{1F04D4C4-1833-4DC5-AD76-3FE9281C43FC}" type="presParOf" srcId="{95DB01C3-3798-4E32-98A5-9D1451B2E230}" destId="{73F7EC15-5DED-44C7-9E26-13F830398EC2}" srcOrd="0" destOrd="0" presId="urn:microsoft.com/office/officeart/2018/2/layout/IconVerticalSolidList"/>
    <dgm:cxn modelId="{61E4FC2C-389D-4EA1-940C-1B33B93505E9}" type="presParOf" srcId="{73F7EC15-5DED-44C7-9E26-13F830398EC2}" destId="{3EBB30F9-A5A4-424D-A5EA-048B021B9AE6}" srcOrd="0" destOrd="0" presId="urn:microsoft.com/office/officeart/2018/2/layout/IconVerticalSolidList"/>
    <dgm:cxn modelId="{C402824D-6EAA-415C-80EB-D6EFB7B746C2}" type="presParOf" srcId="{73F7EC15-5DED-44C7-9E26-13F830398EC2}" destId="{6F92EA0B-7A8F-46F5-A184-9A2864E72F7A}" srcOrd="1" destOrd="0" presId="urn:microsoft.com/office/officeart/2018/2/layout/IconVerticalSolidList"/>
    <dgm:cxn modelId="{3E8DF814-CCFA-4160-88DA-7C2D97E53392}" type="presParOf" srcId="{73F7EC15-5DED-44C7-9E26-13F830398EC2}" destId="{411D7151-F444-44C6-ABF3-D904E3CA1F6A}" srcOrd="2" destOrd="0" presId="urn:microsoft.com/office/officeart/2018/2/layout/IconVerticalSolidList"/>
    <dgm:cxn modelId="{A583A0EB-B69A-41A7-B142-82A29183BCAC}" type="presParOf" srcId="{73F7EC15-5DED-44C7-9E26-13F830398EC2}" destId="{79C19F37-BA4F-4C0E-BF77-67FBF1F7E875}" srcOrd="3" destOrd="0" presId="urn:microsoft.com/office/officeart/2018/2/layout/IconVerticalSolidList"/>
    <dgm:cxn modelId="{9CBACC5D-7C9D-4EB4-8C1E-884696BFF02D}" type="presParOf" srcId="{73F7EC15-5DED-44C7-9E26-13F830398EC2}" destId="{88D906CA-D015-4CE1-9346-4B30F16C4063}" srcOrd="4" destOrd="0" presId="urn:microsoft.com/office/officeart/2018/2/layout/IconVerticalSolidList"/>
    <dgm:cxn modelId="{4E076213-E5CD-47C9-B019-1EF24D2C964A}" type="presParOf" srcId="{95DB01C3-3798-4E32-98A5-9D1451B2E230}" destId="{7DCCAE72-9C47-4342-B8E6-54EAAEEA227C}" srcOrd="1" destOrd="0" presId="urn:microsoft.com/office/officeart/2018/2/layout/IconVerticalSolidList"/>
    <dgm:cxn modelId="{DAA5F88A-14FC-417D-A825-92139AF584E4}" type="presParOf" srcId="{95DB01C3-3798-4E32-98A5-9D1451B2E230}" destId="{5414EE2B-62F3-43DC-8373-C1BB0398C483}" srcOrd="2" destOrd="0" presId="urn:microsoft.com/office/officeart/2018/2/layout/IconVerticalSolidList"/>
    <dgm:cxn modelId="{B49D11B2-BBAE-4AD8-8688-E27D35B18BEA}" type="presParOf" srcId="{5414EE2B-62F3-43DC-8373-C1BB0398C483}" destId="{728929C3-0491-4F08-B2A9-9C7B37324E63}" srcOrd="0" destOrd="0" presId="urn:microsoft.com/office/officeart/2018/2/layout/IconVerticalSolidList"/>
    <dgm:cxn modelId="{1B0CF0DF-4E7A-407A-8ABB-4ADC4052FBB2}" type="presParOf" srcId="{5414EE2B-62F3-43DC-8373-C1BB0398C483}" destId="{6A1445E4-B016-4BEE-AA58-5C86D722B4F1}" srcOrd="1" destOrd="0" presId="urn:microsoft.com/office/officeart/2018/2/layout/IconVerticalSolidList"/>
    <dgm:cxn modelId="{58DD634E-4B63-4723-B2C8-F169A1145773}" type="presParOf" srcId="{5414EE2B-62F3-43DC-8373-C1BB0398C483}" destId="{C96A0DE4-AFA3-437A-95F6-B6B16BDF7795}" srcOrd="2" destOrd="0" presId="urn:microsoft.com/office/officeart/2018/2/layout/IconVerticalSolidList"/>
    <dgm:cxn modelId="{3251DA3E-5884-4373-8301-E208219B9391}" type="presParOf" srcId="{5414EE2B-62F3-43DC-8373-C1BB0398C483}" destId="{5309F0BB-77FD-4E4F-87A4-283CBE2F014C}" srcOrd="3" destOrd="0" presId="urn:microsoft.com/office/officeart/2018/2/layout/IconVerticalSoli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D7ED3BD-A618-4A5D-98DD-39B9D86863F6}"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E9A73DD8-C759-4A9A-82A4-E8FA3DA0523C}">
      <dgm:prSet/>
      <dgm:spPr/>
      <dgm:t>
        <a:bodyPr/>
        <a:lstStyle/>
        <a:p>
          <a:r>
            <a:rPr lang="en-GB" dirty="0"/>
            <a:t>Richer and more accurate information to allowing better decisions</a:t>
          </a:r>
          <a:br>
            <a:rPr lang="en-GB" dirty="0"/>
          </a:br>
          <a:r>
            <a:rPr lang="en-GB" dirty="0"/>
            <a:t>	Allows for process streaming +batch data in one unified platform</a:t>
          </a:r>
          <a:endParaRPr lang="en-US" dirty="0"/>
        </a:p>
      </dgm:t>
    </dgm:pt>
    <dgm:pt modelId="{19887DE9-E2ED-4920-9880-CEF87878C1AF}" type="parTrans" cxnId="{EF6D4336-35D5-4EC0-8046-2FE7BB8B5548}">
      <dgm:prSet/>
      <dgm:spPr/>
      <dgm:t>
        <a:bodyPr/>
        <a:lstStyle/>
        <a:p>
          <a:endParaRPr lang="en-US"/>
        </a:p>
      </dgm:t>
    </dgm:pt>
    <dgm:pt modelId="{50C6D0F0-E430-4322-9043-A447A62A360D}" type="sibTrans" cxnId="{EF6D4336-35D5-4EC0-8046-2FE7BB8B5548}">
      <dgm:prSet/>
      <dgm:spPr/>
      <dgm:t>
        <a:bodyPr/>
        <a:lstStyle/>
        <a:p>
          <a:endParaRPr lang="en-US"/>
        </a:p>
      </dgm:t>
    </dgm:pt>
    <dgm:pt modelId="{84A7BC3E-6C1C-429D-8AA5-E7823912ECEC}">
      <dgm:prSet/>
      <dgm:spPr/>
      <dgm:t>
        <a:bodyPr/>
        <a:lstStyle/>
        <a:p>
          <a:r>
            <a:rPr lang="en-GB" dirty="0"/>
            <a:t>Manage market reporting at lower cost and greater accuracy</a:t>
          </a:r>
        </a:p>
        <a:p>
          <a:r>
            <a:rPr lang="en-GB" dirty="0"/>
            <a:t>	Power intraday dashboards for risk, liquidity, and performance</a:t>
          </a:r>
          <a:endParaRPr lang="en-US" dirty="0"/>
        </a:p>
      </dgm:t>
    </dgm:pt>
    <dgm:pt modelId="{AE97333E-4EDF-411E-8D7A-CBCDA2760B2D}" type="parTrans" cxnId="{6F36EA21-571F-40C4-95FE-BEDD7AD92E83}">
      <dgm:prSet/>
      <dgm:spPr/>
      <dgm:t>
        <a:bodyPr/>
        <a:lstStyle/>
        <a:p>
          <a:endParaRPr lang="en-US"/>
        </a:p>
      </dgm:t>
    </dgm:pt>
    <dgm:pt modelId="{9E269175-9922-4CC3-AA4E-9C9C43253712}" type="sibTrans" cxnId="{6F36EA21-571F-40C4-95FE-BEDD7AD92E83}">
      <dgm:prSet/>
      <dgm:spPr/>
      <dgm:t>
        <a:bodyPr/>
        <a:lstStyle/>
        <a:p>
          <a:endParaRPr lang="en-US"/>
        </a:p>
      </dgm:t>
    </dgm:pt>
    <dgm:pt modelId="{02486C02-66F6-466E-8AF5-13A799ED325D}">
      <dgm:prSet/>
      <dgm:spPr/>
      <dgm:t>
        <a:bodyPr/>
        <a:lstStyle/>
        <a:p>
          <a:r>
            <a:rPr lang="en-GB" dirty="0"/>
            <a:t>Faster real time information to allow faster business decisions to outpace competitors</a:t>
          </a:r>
        </a:p>
        <a:p>
          <a:r>
            <a:rPr lang="en-GB" dirty="0"/>
            <a:t>	Reduce latency between data arrival and business action</a:t>
          </a:r>
          <a:endParaRPr lang="en-US" dirty="0"/>
        </a:p>
      </dgm:t>
    </dgm:pt>
    <dgm:pt modelId="{86926AD8-9608-49DD-91FD-18207FA23433}" type="parTrans" cxnId="{9E6D7C09-047E-4B6E-8D15-88DEC403890C}">
      <dgm:prSet/>
      <dgm:spPr/>
      <dgm:t>
        <a:bodyPr/>
        <a:lstStyle/>
        <a:p>
          <a:endParaRPr lang="en-US"/>
        </a:p>
      </dgm:t>
    </dgm:pt>
    <dgm:pt modelId="{21C6B388-1B28-438B-A8CD-38029F6235E4}" type="sibTrans" cxnId="{9E6D7C09-047E-4B6E-8D15-88DEC403890C}">
      <dgm:prSet/>
      <dgm:spPr/>
      <dgm:t>
        <a:bodyPr/>
        <a:lstStyle/>
        <a:p>
          <a:endParaRPr lang="en-US"/>
        </a:p>
      </dgm:t>
    </dgm:pt>
    <dgm:pt modelId="{5DF853E8-67DB-4C10-821A-B6441919C5CA}">
      <dgm:prSet/>
      <dgm:spPr/>
      <dgm:t>
        <a:bodyPr/>
        <a:lstStyle/>
        <a:p>
          <a:r>
            <a:rPr lang="en-GB" dirty="0"/>
            <a:t>Provide a market changing experience for your customers while driving internal efficiency</a:t>
          </a:r>
        </a:p>
        <a:p>
          <a:r>
            <a:rPr lang="en-GB" dirty="0"/>
            <a:t>	Supports time‑sensitive capital‑markets workflows</a:t>
          </a:r>
          <a:endParaRPr lang="en-US" dirty="0"/>
        </a:p>
      </dgm:t>
    </dgm:pt>
    <dgm:pt modelId="{C07CE0B7-BAAF-481A-9EC7-6B45211AED66}" type="parTrans" cxnId="{C24947FE-2C3A-44AD-B24F-DD9B1FF59FD6}">
      <dgm:prSet/>
      <dgm:spPr/>
      <dgm:t>
        <a:bodyPr/>
        <a:lstStyle/>
        <a:p>
          <a:endParaRPr lang="en-US"/>
        </a:p>
      </dgm:t>
    </dgm:pt>
    <dgm:pt modelId="{E4622926-4F29-4A64-A1AE-BFB6C53B9FE5}" type="sibTrans" cxnId="{C24947FE-2C3A-44AD-B24F-DD9B1FF59FD6}">
      <dgm:prSet/>
      <dgm:spPr/>
      <dgm:t>
        <a:bodyPr/>
        <a:lstStyle/>
        <a:p>
          <a:endParaRPr lang="en-US"/>
        </a:p>
      </dgm:t>
    </dgm:pt>
    <dgm:pt modelId="{18456818-AC4A-4C41-9244-094AF331B56D}" type="pres">
      <dgm:prSet presAssocID="{6D7ED3BD-A618-4A5D-98DD-39B9D86863F6}" presName="linear" presStyleCnt="0">
        <dgm:presLayoutVars>
          <dgm:animLvl val="lvl"/>
          <dgm:resizeHandles val="exact"/>
        </dgm:presLayoutVars>
      </dgm:prSet>
      <dgm:spPr/>
    </dgm:pt>
    <dgm:pt modelId="{A89E76E9-78EB-4C07-BD35-A2C3F2962872}" type="pres">
      <dgm:prSet presAssocID="{E9A73DD8-C759-4A9A-82A4-E8FA3DA0523C}" presName="parentText" presStyleLbl="node1" presStyleIdx="0" presStyleCnt="4">
        <dgm:presLayoutVars>
          <dgm:chMax val="0"/>
          <dgm:bulletEnabled val="1"/>
        </dgm:presLayoutVars>
      </dgm:prSet>
      <dgm:spPr/>
    </dgm:pt>
    <dgm:pt modelId="{FAB30FD8-D659-4F9C-BE7B-C2BD7608B104}" type="pres">
      <dgm:prSet presAssocID="{50C6D0F0-E430-4322-9043-A447A62A360D}" presName="spacer" presStyleCnt="0"/>
      <dgm:spPr/>
    </dgm:pt>
    <dgm:pt modelId="{71160D00-EB4F-4761-AF36-6D6B49D29D74}" type="pres">
      <dgm:prSet presAssocID="{84A7BC3E-6C1C-429D-8AA5-E7823912ECEC}" presName="parentText" presStyleLbl="node1" presStyleIdx="1" presStyleCnt="4">
        <dgm:presLayoutVars>
          <dgm:chMax val="0"/>
          <dgm:bulletEnabled val="1"/>
        </dgm:presLayoutVars>
      </dgm:prSet>
      <dgm:spPr/>
    </dgm:pt>
    <dgm:pt modelId="{2B03C7CA-1DE0-48FA-8DAA-FA9D54A56168}" type="pres">
      <dgm:prSet presAssocID="{9E269175-9922-4CC3-AA4E-9C9C43253712}" presName="spacer" presStyleCnt="0"/>
      <dgm:spPr/>
    </dgm:pt>
    <dgm:pt modelId="{1C1D935E-9473-493B-8828-168476B579AA}" type="pres">
      <dgm:prSet presAssocID="{02486C02-66F6-466E-8AF5-13A799ED325D}" presName="parentText" presStyleLbl="node1" presStyleIdx="2" presStyleCnt="4">
        <dgm:presLayoutVars>
          <dgm:chMax val="0"/>
          <dgm:bulletEnabled val="1"/>
        </dgm:presLayoutVars>
      </dgm:prSet>
      <dgm:spPr/>
    </dgm:pt>
    <dgm:pt modelId="{9E9481EE-ED40-4286-8C1B-EB87C73D3CA4}" type="pres">
      <dgm:prSet presAssocID="{21C6B388-1B28-438B-A8CD-38029F6235E4}" presName="spacer" presStyleCnt="0"/>
      <dgm:spPr/>
    </dgm:pt>
    <dgm:pt modelId="{4BA762B5-7697-4083-BFD6-336C9FB9F74E}" type="pres">
      <dgm:prSet presAssocID="{5DF853E8-67DB-4C10-821A-B6441919C5CA}" presName="parentText" presStyleLbl="node1" presStyleIdx="3" presStyleCnt="4">
        <dgm:presLayoutVars>
          <dgm:chMax val="0"/>
          <dgm:bulletEnabled val="1"/>
        </dgm:presLayoutVars>
      </dgm:prSet>
      <dgm:spPr/>
    </dgm:pt>
  </dgm:ptLst>
  <dgm:cxnLst>
    <dgm:cxn modelId="{9E6D7C09-047E-4B6E-8D15-88DEC403890C}" srcId="{6D7ED3BD-A618-4A5D-98DD-39B9D86863F6}" destId="{02486C02-66F6-466E-8AF5-13A799ED325D}" srcOrd="2" destOrd="0" parTransId="{86926AD8-9608-49DD-91FD-18207FA23433}" sibTransId="{21C6B388-1B28-438B-A8CD-38029F6235E4}"/>
    <dgm:cxn modelId="{CACF2112-2B23-4A73-8744-78B70B744291}" type="presOf" srcId="{6D7ED3BD-A618-4A5D-98DD-39B9D86863F6}" destId="{18456818-AC4A-4C41-9244-094AF331B56D}" srcOrd="0" destOrd="0" presId="urn:microsoft.com/office/officeart/2005/8/layout/vList2"/>
    <dgm:cxn modelId="{6F36EA21-571F-40C4-95FE-BEDD7AD92E83}" srcId="{6D7ED3BD-A618-4A5D-98DD-39B9D86863F6}" destId="{84A7BC3E-6C1C-429D-8AA5-E7823912ECEC}" srcOrd="1" destOrd="0" parTransId="{AE97333E-4EDF-411E-8D7A-CBCDA2760B2D}" sibTransId="{9E269175-9922-4CC3-AA4E-9C9C43253712}"/>
    <dgm:cxn modelId="{E0D2132E-E7B9-49A3-B29C-C579ABAB5F12}" type="presOf" srcId="{02486C02-66F6-466E-8AF5-13A799ED325D}" destId="{1C1D935E-9473-493B-8828-168476B579AA}" srcOrd="0" destOrd="0" presId="urn:microsoft.com/office/officeart/2005/8/layout/vList2"/>
    <dgm:cxn modelId="{EF6D4336-35D5-4EC0-8046-2FE7BB8B5548}" srcId="{6D7ED3BD-A618-4A5D-98DD-39B9D86863F6}" destId="{E9A73DD8-C759-4A9A-82A4-E8FA3DA0523C}" srcOrd="0" destOrd="0" parTransId="{19887DE9-E2ED-4920-9880-CEF87878C1AF}" sibTransId="{50C6D0F0-E430-4322-9043-A447A62A360D}"/>
    <dgm:cxn modelId="{C47D973B-46A7-47EC-9B24-2F62F88E78FE}" type="presOf" srcId="{E9A73DD8-C759-4A9A-82A4-E8FA3DA0523C}" destId="{A89E76E9-78EB-4C07-BD35-A2C3F2962872}" srcOrd="0" destOrd="0" presId="urn:microsoft.com/office/officeart/2005/8/layout/vList2"/>
    <dgm:cxn modelId="{854CB55C-0B74-49C4-9711-CE7E43F5FCA6}" type="presOf" srcId="{84A7BC3E-6C1C-429D-8AA5-E7823912ECEC}" destId="{71160D00-EB4F-4761-AF36-6D6B49D29D74}" srcOrd="0" destOrd="0" presId="urn:microsoft.com/office/officeart/2005/8/layout/vList2"/>
    <dgm:cxn modelId="{389B037D-434D-481E-9C79-9A9102D25978}" type="presOf" srcId="{5DF853E8-67DB-4C10-821A-B6441919C5CA}" destId="{4BA762B5-7697-4083-BFD6-336C9FB9F74E}" srcOrd="0" destOrd="0" presId="urn:microsoft.com/office/officeart/2005/8/layout/vList2"/>
    <dgm:cxn modelId="{C24947FE-2C3A-44AD-B24F-DD9B1FF59FD6}" srcId="{6D7ED3BD-A618-4A5D-98DD-39B9D86863F6}" destId="{5DF853E8-67DB-4C10-821A-B6441919C5CA}" srcOrd="3" destOrd="0" parTransId="{C07CE0B7-BAAF-481A-9EC7-6B45211AED66}" sibTransId="{E4622926-4F29-4A64-A1AE-BFB6C53B9FE5}"/>
    <dgm:cxn modelId="{343BAB6B-7495-43CB-850F-9135EB46CFF0}" type="presParOf" srcId="{18456818-AC4A-4C41-9244-094AF331B56D}" destId="{A89E76E9-78EB-4C07-BD35-A2C3F2962872}" srcOrd="0" destOrd="0" presId="urn:microsoft.com/office/officeart/2005/8/layout/vList2"/>
    <dgm:cxn modelId="{C814BBC8-89AA-46A2-BA34-3313B1B169BC}" type="presParOf" srcId="{18456818-AC4A-4C41-9244-094AF331B56D}" destId="{FAB30FD8-D659-4F9C-BE7B-C2BD7608B104}" srcOrd="1" destOrd="0" presId="urn:microsoft.com/office/officeart/2005/8/layout/vList2"/>
    <dgm:cxn modelId="{94119FDB-A93C-4034-BF2E-B3CAF78DB6F9}" type="presParOf" srcId="{18456818-AC4A-4C41-9244-094AF331B56D}" destId="{71160D00-EB4F-4761-AF36-6D6B49D29D74}" srcOrd="2" destOrd="0" presId="urn:microsoft.com/office/officeart/2005/8/layout/vList2"/>
    <dgm:cxn modelId="{DD00F24D-CAC2-45CB-912C-1EC53B1D3316}" type="presParOf" srcId="{18456818-AC4A-4C41-9244-094AF331B56D}" destId="{2B03C7CA-1DE0-48FA-8DAA-FA9D54A56168}" srcOrd="3" destOrd="0" presId="urn:microsoft.com/office/officeart/2005/8/layout/vList2"/>
    <dgm:cxn modelId="{DCED472A-9816-4596-AC8D-A0C3163C4775}" type="presParOf" srcId="{18456818-AC4A-4C41-9244-094AF331B56D}" destId="{1C1D935E-9473-493B-8828-168476B579AA}" srcOrd="4" destOrd="0" presId="urn:microsoft.com/office/officeart/2005/8/layout/vList2"/>
    <dgm:cxn modelId="{8A18EDA0-D75C-41E8-BA41-CC50F9E9AE68}" type="presParOf" srcId="{18456818-AC4A-4C41-9244-094AF331B56D}" destId="{9E9481EE-ED40-4286-8C1B-EB87C73D3CA4}" srcOrd="5" destOrd="0" presId="urn:microsoft.com/office/officeart/2005/8/layout/vList2"/>
    <dgm:cxn modelId="{56CB7CD3-35EA-4535-976E-6A0895A78DC1}" type="presParOf" srcId="{18456818-AC4A-4C41-9244-094AF331B56D}" destId="{4BA762B5-7697-4083-BFD6-336C9FB9F74E}"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48A3333-B00A-44CD-B5CC-59A56C08D824}"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4C50994A-23F0-4298-A475-D4E731509083}">
      <dgm:prSet/>
      <dgm:spPr/>
      <dgm:t>
        <a:bodyPr/>
        <a:lstStyle/>
        <a:p>
          <a:r>
            <a:rPr lang="en-GB"/>
            <a:t>Centralised access control across table, files, dashboards and ML models </a:t>
          </a:r>
          <a:endParaRPr lang="en-US"/>
        </a:p>
      </dgm:t>
    </dgm:pt>
    <dgm:pt modelId="{7E8260BC-CCF8-48DC-ABB9-EF1621744A18}" type="parTrans" cxnId="{005D78C9-04B9-4E16-AE71-10AD3407380B}">
      <dgm:prSet/>
      <dgm:spPr/>
      <dgm:t>
        <a:bodyPr/>
        <a:lstStyle/>
        <a:p>
          <a:endParaRPr lang="en-US"/>
        </a:p>
      </dgm:t>
    </dgm:pt>
    <dgm:pt modelId="{BBF359C0-FCDB-4F56-92EC-83671D273356}" type="sibTrans" cxnId="{005D78C9-04B9-4E16-AE71-10AD3407380B}">
      <dgm:prSet/>
      <dgm:spPr/>
      <dgm:t>
        <a:bodyPr/>
        <a:lstStyle/>
        <a:p>
          <a:endParaRPr lang="en-US"/>
        </a:p>
      </dgm:t>
    </dgm:pt>
    <dgm:pt modelId="{D470F592-7426-4ABF-8BAE-9045FA1C3822}">
      <dgm:prSet/>
      <dgm:spPr/>
      <dgm:t>
        <a:bodyPr/>
        <a:lstStyle/>
        <a:p>
          <a:r>
            <a:rPr lang="en-GB"/>
            <a:t>Automated lineage for full auditability</a:t>
          </a:r>
          <a:endParaRPr lang="en-US"/>
        </a:p>
      </dgm:t>
    </dgm:pt>
    <dgm:pt modelId="{883C1DD1-9794-4987-A18B-731853B200D8}" type="parTrans" cxnId="{B5341A79-6C05-46DC-A27F-E8B683FBE4B2}">
      <dgm:prSet/>
      <dgm:spPr/>
      <dgm:t>
        <a:bodyPr/>
        <a:lstStyle/>
        <a:p>
          <a:endParaRPr lang="en-US"/>
        </a:p>
      </dgm:t>
    </dgm:pt>
    <dgm:pt modelId="{B6D4096E-2404-4E3B-85DE-B84C914259E6}" type="sibTrans" cxnId="{B5341A79-6C05-46DC-A27F-E8B683FBE4B2}">
      <dgm:prSet/>
      <dgm:spPr/>
      <dgm:t>
        <a:bodyPr/>
        <a:lstStyle/>
        <a:p>
          <a:endParaRPr lang="en-US"/>
        </a:p>
      </dgm:t>
    </dgm:pt>
    <dgm:pt modelId="{41C28D04-B02B-4CAD-9CAD-E7005FB2BFDE}">
      <dgm:prSet/>
      <dgm:spPr/>
      <dgm:t>
        <a:bodyPr/>
        <a:lstStyle/>
        <a:p>
          <a:r>
            <a:rPr lang="en-GB"/>
            <a:t>Supports secure collaboration across teams</a:t>
          </a:r>
          <a:endParaRPr lang="en-US"/>
        </a:p>
      </dgm:t>
    </dgm:pt>
    <dgm:pt modelId="{8F765D63-F1D3-414D-A210-876076A51D6F}" type="parTrans" cxnId="{B76778B4-E48A-424A-B9F0-550414EF0596}">
      <dgm:prSet/>
      <dgm:spPr/>
      <dgm:t>
        <a:bodyPr/>
        <a:lstStyle/>
        <a:p>
          <a:endParaRPr lang="en-US"/>
        </a:p>
      </dgm:t>
    </dgm:pt>
    <dgm:pt modelId="{3C50ADCA-4820-43C3-8EB9-F498BFBE056C}" type="sibTrans" cxnId="{B76778B4-E48A-424A-B9F0-550414EF0596}">
      <dgm:prSet/>
      <dgm:spPr/>
      <dgm:t>
        <a:bodyPr/>
        <a:lstStyle/>
        <a:p>
          <a:endParaRPr lang="en-US"/>
        </a:p>
      </dgm:t>
    </dgm:pt>
    <dgm:pt modelId="{043C990C-06FA-4C75-B44D-A70C8FBB56E1}" type="pres">
      <dgm:prSet presAssocID="{F48A3333-B00A-44CD-B5CC-59A56C08D824}" presName="linear" presStyleCnt="0">
        <dgm:presLayoutVars>
          <dgm:animLvl val="lvl"/>
          <dgm:resizeHandles val="exact"/>
        </dgm:presLayoutVars>
      </dgm:prSet>
      <dgm:spPr/>
    </dgm:pt>
    <dgm:pt modelId="{510DE9D4-2BE7-432E-BB9E-895D03BAB67A}" type="pres">
      <dgm:prSet presAssocID="{4C50994A-23F0-4298-A475-D4E731509083}" presName="parentText" presStyleLbl="node1" presStyleIdx="0" presStyleCnt="3">
        <dgm:presLayoutVars>
          <dgm:chMax val="0"/>
          <dgm:bulletEnabled val="1"/>
        </dgm:presLayoutVars>
      </dgm:prSet>
      <dgm:spPr/>
    </dgm:pt>
    <dgm:pt modelId="{6A271F7B-C60B-47CF-BF42-0385213C1CD5}" type="pres">
      <dgm:prSet presAssocID="{BBF359C0-FCDB-4F56-92EC-83671D273356}" presName="spacer" presStyleCnt="0"/>
      <dgm:spPr/>
    </dgm:pt>
    <dgm:pt modelId="{009534E7-4E57-4095-B8FD-2704E57B4870}" type="pres">
      <dgm:prSet presAssocID="{D470F592-7426-4ABF-8BAE-9045FA1C3822}" presName="parentText" presStyleLbl="node1" presStyleIdx="1" presStyleCnt="3">
        <dgm:presLayoutVars>
          <dgm:chMax val="0"/>
          <dgm:bulletEnabled val="1"/>
        </dgm:presLayoutVars>
      </dgm:prSet>
      <dgm:spPr/>
    </dgm:pt>
    <dgm:pt modelId="{FC65344C-E2D4-487D-BEF5-2B34E4FADE28}" type="pres">
      <dgm:prSet presAssocID="{B6D4096E-2404-4E3B-85DE-B84C914259E6}" presName="spacer" presStyleCnt="0"/>
      <dgm:spPr/>
    </dgm:pt>
    <dgm:pt modelId="{EBBC3252-A90A-461D-991C-D651AC125267}" type="pres">
      <dgm:prSet presAssocID="{41C28D04-B02B-4CAD-9CAD-E7005FB2BFDE}" presName="parentText" presStyleLbl="node1" presStyleIdx="2" presStyleCnt="3">
        <dgm:presLayoutVars>
          <dgm:chMax val="0"/>
          <dgm:bulletEnabled val="1"/>
        </dgm:presLayoutVars>
      </dgm:prSet>
      <dgm:spPr/>
    </dgm:pt>
  </dgm:ptLst>
  <dgm:cxnLst>
    <dgm:cxn modelId="{6F1EA369-D0DF-406C-806B-76F222222AFC}" type="presOf" srcId="{D470F592-7426-4ABF-8BAE-9045FA1C3822}" destId="{009534E7-4E57-4095-B8FD-2704E57B4870}" srcOrd="0" destOrd="0" presId="urn:microsoft.com/office/officeart/2005/8/layout/vList2"/>
    <dgm:cxn modelId="{B5341A79-6C05-46DC-A27F-E8B683FBE4B2}" srcId="{F48A3333-B00A-44CD-B5CC-59A56C08D824}" destId="{D470F592-7426-4ABF-8BAE-9045FA1C3822}" srcOrd="1" destOrd="0" parTransId="{883C1DD1-9794-4987-A18B-731853B200D8}" sibTransId="{B6D4096E-2404-4E3B-85DE-B84C914259E6}"/>
    <dgm:cxn modelId="{14A11881-D08A-4E5C-86CC-7508B7B7644E}" type="presOf" srcId="{4C50994A-23F0-4298-A475-D4E731509083}" destId="{510DE9D4-2BE7-432E-BB9E-895D03BAB67A}" srcOrd="0" destOrd="0" presId="urn:microsoft.com/office/officeart/2005/8/layout/vList2"/>
    <dgm:cxn modelId="{B76778B4-E48A-424A-B9F0-550414EF0596}" srcId="{F48A3333-B00A-44CD-B5CC-59A56C08D824}" destId="{41C28D04-B02B-4CAD-9CAD-E7005FB2BFDE}" srcOrd="2" destOrd="0" parTransId="{8F765D63-F1D3-414D-A210-876076A51D6F}" sibTransId="{3C50ADCA-4820-43C3-8EB9-F498BFBE056C}"/>
    <dgm:cxn modelId="{005D78C9-04B9-4E16-AE71-10AD3407380B}" srcId="{F48A3333-B00A-44CD-B5CC-59A56C08D824}" destId="{4C50994A-23F0-4298-A475-D4E731509083}" srcOrd="0" destOrd="0" parTransId="{7E8260BC-CCF8-48DC-ABB9-EF1621744A18}" sibTransId="{BBF359C0-FCDB-4F56-92EC-83671D273356}"/>
    <dgm:cxn modelId="{69CF96F1-F1AC-4F0C-9193-C555B64E243B}" type="presOf" srcId="{F48A3333-B00A-44CD-B5CC-59A56C08D824}" destId="{043C990C-06FA-4C75-B44D-A70C8FBB56E1}" srcOrd="0" destOrd="0" presId="urn:microsoft.com/office/officeart/2005/8/layout/vList2"/>
    <dgm:cxn modelId="{57F8E3FD-1C2B-4C31-A5D8-46B7B7EAC7D7}" type="presOf" srcId="{41C28D04-B02B-4CAD-9CAD-E7005FB2BFDE}" destId="{EBBC3252-A90A-461D-991C-D651AC125267}" srcOrd="0" destOrd="0" presId="urn:microsoft.com/office/officeart/2005/8/layout/vList2"/>
    <dgm:cxn modelId="{ADAA5247-97D3-408F-8395-48012401A6EF}" type="presParOf" srcId="{043C990C-06FA-4C75-B44D-A70C8FBB56E1}" destId="{510DE9D4-2BE7-432E-BB9E-895D03BAB67A}" srcOrd="0" destOrd="0" presId="urn:microsoft.com/office/officeart/2005/8/layout/vList2"/>
    <dgm:cxn modelId="{DBA79192-56C3-488D-BF65-8603D2292710}" type="presParOf" srcId="{043C990C-06FA-4C75-B44D-A70C8FBB56E1}" destId="{6A271F7B-C60B-47CF-BF42-0385213C1CD5}" srcOrd="1" destOrd="0" presId="urn:microsoft.com/office/officeart/2005/8/layout/vList2"/>
    <dgm:cxn modelId="{D261FEE6-C761-43DB-A6ED-CC1FC09A09D8}" type="presParOf" srcId="{043C990C-06FA-4C75-B44D-A70C8FBB56E1}" destId="{009534E7-4E57-4095-B8FD-2704E57B4870}" srcOrd="2" destOrd="0" presId="urn:microsoft.com/office/officeart/2005/8/layout/vList2"/>
    <dgm:cxn modelId="{7B88E276-164B-4DF9-9846-EF7696F08132}" type="presParOf" srcId="{043C990C-06FA-4C75-B44D-A70C8FBB56E1}" destId="{FC65344C-E2D4-487D-BEF5-2B34E4FADE28}" srcOrd="3" destOrd="0" presId="urn:microsoft.com/office/officeart/2005/8/layout/vList2"/>
    <dgm:cxn modelId="{8AAD9344-B513-40E7-BE86-25D03A49E8C3}" type="presParOf" srcId="{043C990C-06FA-4C75-B44D-A70C8FBB56E1}" destId="{EBBC3252-A90A-461D-991C-D651AC125267}"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445DD42-AC99-4DDD-9E5C-267126D3BDD3}"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83D230B2-0675-475B-B1E4-69F467E4928B}">
      <dgm:prSet/>
      <dgm:spPr/>
      <dgm:t>
        <a:bodyPr/>
        <a:lstStyle/>
        <a:p>
          <a:r>
            <a:rPr lang="en-GB"/>
            <a:t>Declarative pipelines reduce manual engineering work</a:t>
          </a:r>
          <a:endParaRPr lang="en-US"/>
        </a:p>
      </dgm:t>
    </dgm:pt>
    <dgm:pt modelId="{4EA78DAF-FF7C-423C-86AD-80A53F87D2E3}" type="parTrans" cxnId="{1F74CFEA-9BFC-4C08-AB4B-D24993C40C55}">
      <dgm:prSet/>
      <dgm:spPr/>
      <dgm:t>
        <a:bodyPr/>
        <a:lstStyle/>
        <a:p>
          <a:endParaRPr lang="en-US"/>
        </a:p>
      </dgm:t>
    </dgm:pt>
    <dgm:pt modelId="{21E0A9FF-F4B7-4233-BDCB-867D0B28B619}" type="sibTrans" cxnId="{1F74CFEA-9BFC-4C08-AB4B-D24993C40C55}">
      <dgm:prSet/>
      <dgm:spPr/>
      <dgm:t>
        <a:bodyPr/>
        <a:lstStyle/>
        <a:p>
          <a:endParaRPr lang="en-US"/>
        </a:p>
      </dgm:t>
    </dgm:pt>
    <dgm:pt modelId="{6100427E-719E-4CE1-925B-49402F259AD9}">
      <dgm:prSet/>
      <dgm:spPr/>
      <dgm:t>
        <a:bodyPr/>
        <a:lstStyle/>
        <a:p>
          <a:r>
            <a:rPr lang="en-GB"/>
            <a:t>Built‑in data quality checks and monitoring</a:t>
          </a:r>
          <a:endParaRPr lang="en-US"/>
        </a:p>
      </dgm:t>
    </dgm:pt>
    <dgm:pt modelId="{5CFC7977-90CE-450E-9AFB-C37A4D0D82DC}" type="parTrans" cxnId="{15EB2AE9-7078-4809-A216-F18434CEC7E9}">
      <dgm:prSet/>
      <dgm:spPr/>
      <dgm:t>
        <a:bodyPr/>
        <a:lstStyle/>
        <a:p>
          <a:endParaRPr lang="en-US"/>
        </a:p>
      </dgm:t>
    </dgm:pt>
    <dgm:pt modelId="{BFF88FB6-77D7-403D-99BC-356281CE125C}" type="sibTrans" cxnId="{15EB2AE9-7078-4809-A216-F18434CEC7E9}">
      <dgm:prSet/>
      <dgm:spPr/>
      <dgm:t>
        <a:bodyPr/>
        <a:lstStyle/>
        <a:p>
          <a:endParaRPr lang="en-US"/>
        </a:p>
      </dgm:t>
    </dgm:pt>
    <dgm:pt modelId="{07FDD890-D41F-4580-9653-5B717F206B28}">
      <dgm:prSet/>
      <dgm:spPr/>
      <dgm:t>
        <a:bodyPr/>
        <a:lstStyle/>
        <a:p>
          <a:r>
            <a:rPr lang="en-GB"/>
            <a:t>Supports both streaming and batch workloads</a:t>
          </a:r>
          <a:endParaRPr lang="en-US"/>
        </a:p>
      </dgm:t>
    </dgm:pt>
    <dgm:pt modelId="{F07A6AD9-1A8C-4F85-9FE5-6AB4096813C6}" type="parTrans" cxnId="{8B46C448-D927-48CB-A2AF-FBD17BB5C27C}">
      <dgm:prSet/>
      <dgm:spPr/>
      <dgm:t>
        <a:bodyPr/>
        <a:lstStyle/>
        <a:p>
          <a:endParaRPr lang="en-US"/>
        </a:p>
      </dgm:t>
    </dgm:pt>
    <dgm:pt modelId="{C4D8C9E0-BC2F-40DA-9E2E-54C8CEF6DC49}" type="sibTrans" cxnId="{8B46C448-D927-48CB-A2AF-FBD17BB5C27C}">
      <dgm:prSet/>
      <dgm:spPr/>
      <dgm:t>
        <a:bodyPr/>
        <a:lstStyle/>
        <a:p>
          <a:endParaRPr lang="en-US"/>
        </a:p>
      </dgm:t>
    </dgm:pt>
    <dgm:pt modelId="{AD81CD81-571F-49E9-8E5E-4A9B49B10EE9}">
      <dgm:prSet/>
      <dgm:spPr/>
      <dgm:t>
        <a:bodyPr/>
        <a:lstStyle/>
        <a:p>
          <a:r>
            <a:rPr lang="en-GB"/>
            <a:t>Reduces pipeline failures and operational overhead</a:t>
          </a:r>
          <a:endParaRPr lang="en-US"/>
        </a:p>
      </dgm:t>
    </dgm:pt>
    <dgm:pt modelId="{48C5A6C7-66A1-4FF4-8373-7A2E8DE5A8C7}" type="parTrans" cxnId="{EF9E0B94-6686-421C-A81D-51704BD3C70D}">
      <dgm:prSet/>
      <dgm:spPr/>
      <dgm:t>
        <a:bodyPr/>
        <a:lstStyle/>
        <a:p>
          <a:endParaRPr lang="en-US"/>
        </a:p>
      </dgm:t>
    </dgm:pt>
    <dgm:pt modelId="{59AA2447-4F17-4493-8804-CA00BA14B48E}" type="sibTrans" cxnId="{EF9E0B94-6686-421C-A81D-51704BD3C70D}">
      <dgm:prSet/>
      <dgm:spPr/>
      <dgm:t>
        <a:bodyPr/>
        <a:lstStyle/>
        <a:p>
          <a:endParaRPr lang="en-US"/>
        </a:p>
      </dgm:t>
    </dgm:pt>
    <dgm:pt modelId="{2D974E50-F0D6-435C-8DFD-5D9D2B0C3669}" type="pres">
      <dgm:prSet presAssocID="{9445DD42-AC99-4DDD-9E5C-267126D3BDD3}" presName="linear" presStyleCnt="0">
        <dgm:presLayoutVars>
          <dgm:animLvl val="lvl"/>
          <dgm:resizeHandles val="exact"/>
        </dgm:presLayoutVars>
      </dgm:prSet>
      <dgm:spPr/>
    </dgm:pt>
    <dgm:pt modelId="{6ADB6C6C-68EF-4EA6-98EC-732FE1BA5C99}" type="pres">
      <dgm:prSet presAssocID="{83D230B2-0675-475B-B1E4-69F467E4928B}" presName="parentText" presStyleLbl="node1" presStyleIdx="0" presStyleCnt="4">
        <dgm:presLayoutVars>
          <dgm:chMax val="0"/>
          <dgm:bulletEnabled val="1"/>
        </dgm:presLayoutVars>
      </dgm:prSet>
      <dgm:spPr/>
    </dgm:pt>
    <dgm:pt modelId="{1BB0D10B-7C19-44AC-B0BD-656858E1242B}" type="pres">
      <dgm:prSet presAssocID="{21E0A9FF-F4B7-4233-BDCB-867D0B28B619}" presName="spacer" presStyleCnt="0"/>
      <dgm:spPr/>
    </dgm:pt>
    <dgm:pt modelId="{CD5AB252-A669-4914-8382-08E04ABD398F}" type="pres">
      <dgm:prSet presAssocID="{6100427E-719E-4CE1-925B-49402F259AD9}" presName="parentText" presStyleLbl="node1" presStyleIdx="1" presStyleCnt="4">
        <dgm:presLayoutVars>
          <dgm:chMax val="0"/>
          <dgm:bulletEnabled val="1"/>
        </dgm:presLayoutVars>
      </dgm:prSet>
      <dgm:spPr/>
    </dgm:pt>
    <dgm:pt modelId="{CE1AA623-4A05-4AC4-83DA-7A32CC11ECF6}" type="pres">
      <dgm:prSet presAssocID="{BFF88FB6-77D7-403D-99BC-356281CE125C}" presName="spacer" presStyleCnt="0"/>
      <dgm:spPr/>
    </dgm:pt>
    <dgm:pt modelId="{5B5F2464-D7D6-4498-8047-A0B865D44A3D}" type="pres">
      <dgm:prSet presAssocID="{07FDD890-D41F-4580-9653-5B717F206B28}" presName="parentText" presStyleLbl="node1" presStyleIdx="2" presStyleCnt="4">
        <dgm:presLayoutVars>
          <dgm:chMax val="0"/>
          <dgm:bulletEnabled val="1"/>
        </dgm:presLayoutVars>
      </dgm:prSet>
      <dgm:spPr/>
    </dgm:pt>
    <dgm:pt modelId="{BA74677E-F653-4F17-84DF-FC5C498AF822}" type="pres">
      <dgm:prSet presAssocID="{C4D8C9E0-BC2F-40DA-9E2E-54C8CEF6DC49}" presName="spacer" presStyleCnt="0"/>
      <dgm:spPr/>
    </dgm:pt>
    <dgm:pt modelId="{3B685DFB-7BCC-4A9E-97CA-C5D8B0BF5BFD}" type="pres">
      <dgm:prSet presAssocID="{AD81CD81-571F-49E9-8E5E-4A9B49B10EE9}" presName="parentText" presStyleLbl="node1" presStyleIdx="3" presStyleCnt="4">
        <dgm:presLayoutVars>
          <dgm:chMax val="0"/>
          <dgm:bulletEnabled val="1"/>
        </dgm:presLayoutVars>
      </dgm:prSet>
      <dgm:spPr/>
    </dgm:pt>
  </dgm:ptLst>
  <dgm:cxnLst>
    <dgm:cxn modelId="{8B46C448-D927-48CB-A2AF-FBD17BB5C27C}" srcId="{9445DD42-AC99-4DDD-9E5C-267126D3BDD3}" destId="{07FDD890-D41F-4580-9653-5B717F206B28}" srcOrd="2" destOrd="0" parTransId="{F07A6AD9-1A8C-4F85-9FE5-6AB4096813C6}" sibTransId="{C4D8C9E0-BC2F-40DA-9E2E-54C8CEF6DC49}"/>
    <dgm:cxn modelId="{9940A24D-560C-4E48-983F-0BC44D15F164}" type="presOf" srcId="{AD81CD81-571F-49E9-8E5E-4A9B49B10EE9}" destId="{3B685DFB-7BCC-4A9E-97CA-C5D8B0BF5BFD}" srcOrd="0" destOrd="0" presId="urn:microsoft.com/office/officeart/2005/8/layout/vList2"/>
    <dgm:cxn modelId="{5C301A7C-65AC-4FEF-9F1C-C565FC0CFD07}" type="presOf" srcId="{6100427E-719E-4CE1-925B-49402F259AD9}" destId="{CD5AB252-A669-4914-8382-08E04ABD398F}" srcOrd="0" destOrd="0" presId="urn:microsoft.com/office/officeart/2005/8/layout/vList2"/>
    <dgm:cxn modelId="{38D97A8F-97A5-488A-80CA-92BE110BECCB}" type="presOf" srcId="{9445DD42-AC99-4DDD-9E5C-267126D3BDD3}" destId="{2D974E50-F0D6-435C-8DFD-5D9D2B0C3669}" srcOrd="0" destOrd="0" presId="urn:microsoft.com/office/officeart/2005/8/layout/vList2"/>
    <dgm:cxn modelId="{EF9E0B94-6686-421C-A81D-51704BD3C70D}" srcId="{9445DD42-AC99-4DDD-9E5C-267126D3BDD3}" destId="{AD81CD81-571F-49E9-8E5E-4A9B49B10EE9}" srcOrd="3" destOrd="0" parTransId="{48C5A6C7-66A1-4FF4-8373-7A2E8DE5A8C7}" sibTransId="{59AA2447-4F17-4493-8804-CA00BA14B48E}"/>
    <dgm:cxn modelId="{F1B0E0AC-9B46-47F7-94AE-7C3D357E5599}" type="presOf" srcId="{07FDD890-D41F-4580-9653-5B717F206B28}" destId="{5B5F2464-D7D6-4498-8047-A0B865D44A3D}" srcOrd="0" destOrd="0" presId="urn:microsoft.com/office/officeart/2005/8/layout/vList2"/>
    <dgm:cxn modelId="{2086C1B6-9F2B-479E-A455-82CE315FD5A9}" type="presOf" srcId="{83D230B2-0675-475B-B1E4-69F467E4928B}" destId="{6ADB6C6C-68EF-4EA6-98EC-732FE1BA5C99}" srcOrd="0" destOrd="0" presId="urn:microsoft.com/office/officeart/2005/8/layout/vList2"/>
    <dgm:cxn modelId="{15EB2AE9-7078-4809-A216-F18434CEC7E9}" srcId="{9445DD42-AC99-4DDD-9E5C-267126D3BDD3}" destId="{6100427E-719E-4CE1-925B-49402F259AD9}" srcOrd="1" destOrd="0" parTransId="{5CFC7977-90CE-450E-9AFB-C37A4D0D82DC}" sibTransId="{BFF88FB6-77D7-403D-99BC-356281CE125C}"/>
    <dgm:cxn modelId="{1F74CFEA-9BFC-4C08-AB4B-D24993C40C55}" srcId="{9445DD42-AC99-4DDD-9E5C-267126D3BDD3}" destId="{83D230B2-0675-475B-B1E4-69F467E4928B}" srcOrd="0" destOrd="0" parTransId="{4EA78DAF-FF7C-423C-86AD-80A53F87D2E3}" sibTransId="{21E0A9FF-F4B7-4233-BDCB-867D0B28B619}"/>
    <dgm:cxn modelId="{1913EE9B-9EDC-4890-BD39-F1526F84C5D9}" type="presParOf" srcId="{2D974E50-F0D6-435C-8DFD-5D9D2B0C3669}" destId="{6ADB6C6C-68EF-4EA6-98EC-732FE1BA5C99}" srcOrd="0" destOrd="0" presId="urn:microsoft.com/office/officeart/2005/8/layout/vList2"/>
    <dgm:cxn modelId="{3A8BD756-6115-450F-9BA7-AE4E2148884C}" type="presParOf" srcId="{2D974E50-F0D6-435C-8DFD-5D9D2B0C3669}" destId="{1BB0D10B-7C19-44AC-B0BD-656858E1242B}" srcOrd="1" destOrd="0" presId="urn:microsoft.com/office/officeart/2005/8/layout/vList2"/>
    <dgm:cxn modelId="{107FBA71-BA29-4123-AE83-170AF7A2BCC9}" type="presParOf" srcId="{2D974E50-F0D6-435C-8DFD-5D9D2B0C3669}" destId="{CD5AB252-A669-4914-8382-08E04ABD398F}" srcOrd="2" destOrd="0" presId="urn:microsoft.com/office/officeart/2005/8/layout/vList2"/>
    <dgm:cxn modelId="{B79BF572-4222-427F-92AA-69FAE8EB8F93}" type="presParOf" srcId="{2D974E50-F0D6-435C-8DFD-5D9D2B0C3669}" destId="{CE1AA623-4A05-4AC4-83DA-7A32CC11ECF6}" srcOrd="3" destOrd="0" presId="urn:microsoft.com/office/officeart/2005/8/layout/vList2"/>
    <dgm:cxn modelId="{7C59C9C5-B51F-4316-AF73-0B1F91563DF9}" type="presParOf" srcId="{2D974E50-F0D6-435C-8DFD-5D9D2B0C3669}" destId="{5B5F2464-D7D6-4498-8047-A0B865D44A3D}" srcOrd="4" destOrd="0" presId="urn:microsoft.com/office/officeart/2005/8/layout/vList2"/>
    <dgm:cxn modelId="{6EF2041C-F033-4858-9205-55A8FC9E4920}" type="presParOf" srcId="{2D974E50-F0D6-435C-8DFD-5D9D2B0C3669}" destId="{BA74677E-F653-4F17-84DF-FC5C498AF822}" srcOrd="5" destOrd="0" presId="urn:microsoft.com/office/officeart/2005/8/layout/vList2"/>
    <dgm:cxn modelId="{B7DC5767-29E9-4B09-82CD-1F5849985E55}" type="presParOf" srcId="{2D974E50-F0D6-435C-8DFD-5D9D2B0C3669}" destId="{3B685DFB-7BCC-4A9E-97CA-C5D8B0BF5BFD}" srcOrd="6"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6B19BE0-EC8C-4125-8EB3-39D871DCBC9C}"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D92A996B-2D0D-4DBD-9A7E-872CF1F98EB5}">
      <dgm:prSet/>
      <dgm:spPr/>
      <dgm:t>
        <a:bodyPr/>
        <a:lstStyle/>
        <a:p>
          <a:r>
            <a:rPr lang="en-GB"/>
            <a:t>Problem: market data was deliver slowly which forced analysts to spend more time integrating the data rather than modelling</a:t>
          </a:r>
          <a:endParaRPr lang="en-US"/>
        </a:p>
      </dgm:t>
    </dgm:pt>
    <dgm:pt modelId="{3A8DDD63-8010-46D1-9E7C-77B55CD15E25}" type="parTrans" cxnId="{3E36992E-5B68-47AD-9D9B-FAE03E0C86B2}">
      <dgm:prSet/>
      <dgm:spPr/>
      <dgm:t>
        <a:bodyPr/>
        <a:lstStyle/>
        <a:p>
          <a:endParaRPr lang="en-US"/>
        </a:p>
      </dgm:t>
    </dgm:pt>
    <dgm:pt modelId="{FA48B2CD-C09D-4C8C-B052-88EDFEEB3872}" type="sibTrans" cxnId="{3E36992E-5B68-47AD-9D9B-FAE03E0C86B2}">
      <dgm:prSet/>
      <dgm:spPr/>
      <dgm:t>
        <a:bodyPr/>
        <a:lstStyle/>
        <a:p>
          <a:endParaRPr lang="en-US"/>
        </a:p>
      </dgm:t>
    </dgm:pt>
    <dgm:pt modelId="{F45201D5-B7F0-4829-9449-AEA88C624EEE}">
      <dgm:prSet/>
      <dgm:spPr/>
      <dgm:t>
        <a:bodyPr/>
        <a:lstStyle/>
        <a:p>
          <a:r>
            <a:rPr lang="en-GB"/>
            <a:t>Solutions: Delta sharing, Agent Bricks  + Databricks AI, Unified platform</a:t>
          </a:r>
          <a:endParaRPr lang="en-US"/>
        </a:p>
      </dgm:t>
    </dgm:pt>
    <dgm:pt modelId="{019598AE-A4D9-4FFA-AD95-E92215141735}" type="parTrans" cxnId="{488D69A3-3E71-4DF3-81A3-D2971AFB5FC3}">
      <dgm:prSet/>
      <dgm:spPr/>
      <dgm:t>
        <a:bodyPr/>
        <a:lstStyle/>
        <a:p>
          <a:endParaRPr lang="en-US"/>
        </a:p>
      </dgm:t>
    </dgm:pt>
    <dgm:pt modelId="{0C1AB358-9525-42CD-897D-D9A047027ECE}" type="sibTrans" cxnId="{488D69A3-3E71-4DF3-81A3-D2971AFB5FC3}">
      <dgm:prSet/>
      <dgm:spPr/>
      <dgm:t>
        <a:bodyPr/>
        <a:lstStyle/>
        <a:p>
          <a:endParaRPr lang="en-US"/>
        </a:p>
      </dgm:t>
    </dgm:pt>
    <dgm:pt modelId="{73354155-1BAB-4994-9799-C7C8C43A9274}">
      <dgm:prSet/>
      <dgm:spPr/>
      <dgm:t>
        <a:bodyPr/>
        <a:lstStyle/>
        <a:p>
          <a:r>
            <a:rPr lang="en-GB"/>
            <a:t>Impact on LSEG: Faster data onboarding, Accelerated AI production, lower operational friction</a:t>
          </a:r>
          <a:endParaRPr lang="en-US"/>
        </a:p>
      </dgm:t>
    </dgm:pt>
    <dgm:pt modelId="{5DC9D7E9-682D-4066-9388-3C2E8A9F52C6}" type="parTrans" cxnId="{90BCDEC0-1BCB-4560-B898-7FAD0EA29BB3}">
      <dgm:prSet/>
      <dgm:spPr/>
      <dgm:t>
        <a:bodyPr/>
        <a:lstStyle/>
        <a:p>
          <a:endParaRPr lang="en-US"/>
        </a:p>
      </dgm:t>
    </dgm:pt>
    <dgm:pt modelId="{9BAFA31C-4348-47A5-A1C1-4F0FB48149C8}" type="sibTrans" cxnId="{90BCDEC0-1BCB-4560-B898-7FAD0EA29BB3}">
      <dgm:prSet/>
      <dgm:spPr/>
      <dgm:t>
        <a:bodyPr/>
        <a:lstStyle/>
        <a:p>
          <a:endParaRPr lang="en-US"/>
        </a:p>
      </dgm:t>
    </dgm:pt>
    <dgm:pt modelId="{5AD3BEE9-8E98-408A-8EA6-A034800EEF7F}" type="pres">
      <dgm:prSet presAssocID="{56B19BE0-EC8C-4125-8EB3-39D871DCBC9C}" presName="linear" presStyleCnt="0">
        <dgm:presLayoutVars>
          <dgm:animLvl val="lvl"/>
          <dgm:resizeHandles val="exact"/>
        </dgm:presLayoutVars>
      </dgm:prSet>
      <dgm:spPr/>
    </dgm:pt>
    <dgm:pt modelId="{1BF8E055-B2D8-4217-82EC-E7D0A972D1BC}" type="pres">
      <dgm:prSet presAssocID="{D92A996B-2D0D-4DBD-9A7E-872CF1F98EB5}" presName="parentText" presStyleLbl="node1" presStyleIdx="0" presStyleCnt="3">
        <dgm:presLayoutVars>
          <dgm:chMax val="0"/>
          <dgm:bulletEnabled val="1"/>
        </dgm:presLayoutVars>
      </dgm:prSet>
      <dgm:spPr/>
    </dgm:pt>
    <dgm:pt modelId="{FDE368A5-5737-4B3F-BEF3-B13117286AC3}" type="pres">
      <dgm:prSet presAssocID="{FA48B2CD-C09D-4C8C-B052-88EDFEEB3872}" presName="spacer" presStyleCnt="0"/>
      <dgm:spPr/>
    </dgm:pt>
    <dgm:pt modelId="{7A216B26-2E78-4779-AFAF-9E1672E326B8}" type="pres">
      <dgm:prSet presAssocID="{F45201D5-B7F0-4829-9449-AEA88C624EEE}" presName="parentText" presStyleLbl="node1" presStyleIdx="1" presStyleCnt="3">
        <dgm:presLayoutVars>
          <dgm:chMax val="0"/>
          <dgm:bulletEnabled val="1"/>
        </dgm:presLayoutVars>
      </dgm:prSet>
      <dgm:spPr/>
    </dgm:pt>
    <dgm:pt modelId="{690668B9-E883-4A10-9FD7-DB25F95B00BF}" type="pres">
      <dgm:prSet presAssocID="{0C1AB358-9525-42CD-897D-D9A047027ECE}" presName="spacer" presStyleCnt="0"/>
      <dgm:spPr/>
    </dgm:pt>
    <dgm:pt modelId="{98009C8C-4524-4B4A-AD85-08DB1A8B6F0E}" type="pres">
      <dgm:prSet presAssocID="{73354155-1BAB-4994-9799-C7C8C43A9274}" presName="parentText" presStyleLbl="node1" presStyleIdx="2" presStyleCnt="3">
        <dgm:presLayoutVars>
          <dgm:chMax val="0"/>
          <dgm:bulletEnabled val="1"/>
        </dgm:presLayoutVars>
      </dgm:prSet>
      <dgm:spPr/>
    </dgm:pt>
  </dgm:ptLst>
  <dgm:cxnLst>
    <dgm:cxn modelId="{9FB36128-4C72-4D76-AB7D-3916A419CA95}" type="presOf" srcId="{56B19BE0-EC8C-4125-8EB3-39D871DCBC9C}" destId="{5AD3BEE9-8E98-408A-8EA6-A034800EEF7F}" srcOrd="0" destOrd="0" presId="urn:microsoft.com/office/officeart/2005/8/layout/vList2"/>
    <dgm:cxn modelId="{E70C8E2D-A971-4B5B-B378-CB14403FC1E6}" type="presOf" srcId="{D92A996B-2D0D-4DBD-9A7E-872CF1F98EB5}" destId="{1BF8E055-B2D8-4217-82EC-E7D0A972D1BC}" srcOrd="0" destOrd="0" presId="urn:microsoft.com/office/officeart/2005/8/layout/vList2"/>
    <dgm:cxn modelId="{3E36992E-5B68-47AD-9D9B-FAE03E0C86B2}" srcId="{56B19BE0-EC8C-4125-8EB3-39D871DCBC9C}" destId="{D92A996B-2D0D-4DBD-9A7E-872CF1F98EB5}" srcOrd="0" destOrd="0" parTransId="{3A8DDD63-8010-46D1-9E7C-77B55CD15E25}" sibTransId="{FA48B2CD-C09D-4C8C-B052-88EDFEEB3872}"/>
    <dgm:cxn modelId="{488D69A3-3E71-4DF3-81A3-D2971AFB5FC3}" srcId="{56B19BE0-EC8C-4125-8EB3-39D871DCBC9C}" destId="{F45201D5-B7F0-4829-9449-AEA88C624EEE}" srcOrd="1" destOrd="0" parTransId="{019598AE-A4D9-4FFA-AD95-E92215141735}" sibTransId="{0C1AB358-9525-42CD-897D-D9A047027ECE}"/>
    <dgm:cxn modelId="{FAEBF5B6-AE7A-44EE-8C0E-02735B4BBB2B}" type="presOf" srcId="{F45201D5-B7F0-4829-9449-AEA88C624EEE}" destId="{7A216B26-2E78-4779-AFAF-9E1672E326B8}" srcOrd="0" destOrd="0" presId="urn:microsoft.com/office/officeart/2005/8/layout/vList2"/>
    <dgm:cxn modelId="{90BCDEC0-1BCB-4560-B898-7FAD0EA29BB3}" srcId="{56B19BE0-EC8C-4125-8EB3-39D871DCBC9C}" destId="{73354155-1BAB-4994-9799-C7C8C43A9274}" srcOrd="2" destOrd="0" parTransId="{5DC9D7E9-682D-4066-9388-3C2E8A9F52C6}" sibTransId="{9BAFA31C-4348-47A5-A1C1-4F0FB48149C8}"/>
    <dgm:cxn modelId="{D80B96FB-DE64-4D97-8E13-EBCB9C71BF61}" type="presOf" srcId="{73354155-1BAB-4994-9799-C7C8C43A9274}" destId="{98009C8C-4524-4B4A-AD85-08DB1A8B6F0E}" srcOrd="0" destOrd="0" presId="urn:microsoft.com/office/officeart/2005/8/layout/vList2"/>
    <dgm:cxn modelId="{9E28A7CA-08CF-425B-8F44-A690C0E6A14F}" type="presParOf" srcId="{5AD3BEE9-8E98-408A-8EA6-A034800EEF7F}" destId="{1BF8E055-B2D8-4217-82EC-E7D0A972D1BC}" srcOrd="0" destOrd="0" presId="urn:microsoft.com/office/officeart/2005/8/layout/vList2"/>
    <dgm:cxn modelId="{94D65FAD-90DC-4E4D-9EED-833823A3F5C2}" type="presParOf" srcId="{5AD3BEE9-8E98-408A-8EA6-A034800EEF7F}" destId="{FDE368A5-5737-4B3F-BEF3-B13117286AC3}" srcOrd="1" destOrd="0" presId="urn:microsoft.com/office/officeart/2005/8/layout/vList2"/>
    <dgm:cxn modelId="{69E20CEA-527B-450D-84C5-AE2E0AB7613E}" type="presParOf" srcId="{5AD3BEE9-8E98-408A-8EA6-A034800EEF7F}" destId="{7A216B26-2E78-4779-AFAF-9E1672E326B8}" srcOrd="2" destOrd="0" presId="urn:microsoft.com/office/officeart/2005/8/layout/vList2"/>
    <dgm:cxn modelId="{5D3251C1-4E4E-4EF6-BD9A-49A6AAC27215}" type="presParOf" srcId="{5AD3BEE9-8E98-408A-8EA6-A034800EEF7F}" destId="{690668B9-E883-4A10-9FD7-DB25F95B00BF}" srcOrd="3" destOrd="0" presId="urn:microsoft.com/office/officeart/2005/8/layout/vList2"/>
    <dgm:cxn modelId="{14DE25CC-9939-490C-A12F-D04D83C1DDB8}" type="presParOf" srcId="{5AD3BEE9-8E98-408A-8EA6-A034800EEF7F}" destId="{98009C8C-4524-4B4A-AD85-08DB1A8B6F0E}" srcOrd="4"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E5C93E0-CFAD-4790-90E8-00C58EA6C91B}" type="doc">
      <dgm:prSet loTypeId="urn:microsoft.com/office/officeart/2018/5/layout/IconLeafLabel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AB6FAE30-7C74-45E0-AD98-1C405C86920C}">
      <dgm:prSet/>
      <dgm:spPr/>
      <dgm:t>
        <a:bodyPr/>
        <a:lstStyle/>
        <a:p>
          <a:pPr>
            <a:defRPr cap="all"/>
          </a:pPr>
          <a:r>
            <a:rPr lang="en-GB"/>
            <a:t>Engage your business stakeholder for a business demo </a:t>
          </a:r>
          <a:endParaRPr lang="en-US"/>
        </a:p>
      </dgm:t>
    </dgm:pt>
    <dgm:pt modelId="{30C6B668-A809-4154-B1B6-3E77F73648F7}" type="parTrans" cxnId="{619A1943-6851-4A19-A437-4F1F690A9432}">
      <dgm:prSet/>
      <dgm:spPr/>
      <dgm:t>
        <a:bodyPr/>
        <a:lstStyle/>
        <a:p>
          <a:endParaRPr lang="en-US"/>
        </a:p>
      </dgm:t>
    </dgm:pt>
    <dgm:pt modelId="{6F469DDC-1EBD-4FC0-903A-0495249344F4}" type="sibTrans" cxnId="{619A1943-6851-4A19-A437-4F1F690A9432}">
      <dgm:prSet/>
      <dgm:spPr/>
      <dgm:t>
        <a:bodyPr/>
        <a:lstStyle/>
        <a:p>
          <a:endParaRPr lang="en-US"/>
        </a:p>
      </dgm:t>
    </dgm:pt>
    <dgm:pt modelId="{5489CE8D-6A5F-4E38-8905-805ECE0DF8F5}">
      <dgm:prSet/>
      <dgm:spPr/>
      <dgm:t>
        <a:bodyPr/>
        <a:lstStyle/>
        <a:p>
          <a:pPr>
            <a:defRPr cap="all"/>
          </a:pPr>
          <a:r>
            <a:rPr lang="en-GB"/>
            <a:t>Workshop – todays architecture vs future architecture for ICG</a:t>
          </a:r>
          <a:endParaRPr lang="en-US"/>
        </a:p>
      </dgm:t>
    </dgm:pt>
    <dgm:pt modelId="{F2FE4987-90BC-4DC5-9F99-AB5E726E6B71}" type="parTrans" cxnId="{E8C72B23-1BE4-470D-A56B-86AA17E667D6}">
      <dgm:prSet/>
      <dgm:spPr/>
      <dgm:t>
        <a:bodyPr/>
        <a:lstStyle/>
        <a:p>
          <a:endParaRPr lang="en-US"/>
        </a:p>
      </dgm:t>
    </dgm:pt>
    <dgm:pt modelId="{3702825A-85E1-4873-86FD-C5640A367CDE}" type="sibTrans" cxnId="{E8C72B23-1BE4-470D-A56B-86AA17E667D6}">
      <dgm:prSet/>
      <dgm:spPr/>
      <dgm:t>
        <a:bodyPr/>
        <a:lstStyle/>
        <a:p>
          <a:endParaRPr lang="en-US"/>
        </a:p>
      </dgm:t>
    </dgm:pt>
    <dgm:pt modelId="{C6D91894-1380-4F77-A047-D8E061B4044E}">
      <dgm:prSet/>
      <dgm:spPr/>
      <dgm:t>
        <a:bodyPr/>
        <a:lstStyle/>
        <a:p>
          <a:pPr>
            <a:defRPr cap="all"/>
          </a:pPr>
          <a:r>
            <a:rPr lang="en-GB"/>
            <a:t>Invite you to our FSI forum in May and Summit in June </a:t>
          </a:r>
          <a:endParaRPr lang="en-US"/>
        </a:p>
      </dgm:t>
    </dgm:pt>
    <dgm:pt modelId="{8D29688A-0D99-4D30-983D-139CFB07B481}" type="parTrans" cxnId="{0BD645BE-C68C-4FC0-84EC-5E8EEBAFC773}">
      <dgm:prSet/>
      <dgm:spPr/>
      <dgm:t>
        <a:bodyPr/>
        <a:lstStyle/>
        <a:p>
          <a:endParaRPr lang="en-US"/>
        </a:p>
      </dgm:t>
    </dgm:pt>
    <dgm:pt modelId="{B5D4B6AE-E60C-4982-8511-79124F8D1054}" type="sibTrans" cxnId="{0BD645BE-C68C-4FC0-84EC-5E8EEBAFC773}">
      <dgm:prSet/>
      <dgm:spPr/>
      <dgm:t>
        <a:bodyPr/>
        <a:lstStyle/>
        <a:p>
          <a:endParaRPr lang="en-US"/>
        </a:p>
      </dgm:t>
    </dgm:pt>
    <dgm:pt modelId="{54FA4969-AB77-4FEB-9D48-68A7F79F87AB}" type="pres">
      <dgm:prSet presAssocID="{DE5C93E0-CFAD-4790-90E8-00C58EA6C91B}" presName="root" presStyleCnt="0">
        <dgm:presLayoutVars>
          <dgm:dir/>
          <dgm:resizeHandles val="exact"/>
        </dgm:presLayoutVars>
      </dgm:prSet>
      <dgm:spPr/>
    </dgm:pt>
    <dgm:pt modelId="{DC368023-519E-41F8-9781-5FAC90E308C2}" type="pres">
      <dgm:prSet presAssocID="{AB6FAE30-7C74-45E0-AD98-1C405C86920C}" presName="compNode" presStyleCnt="0"/>
      <dgm:spPr/>
    </dgm:pt>
    <dgm:pt modelId="{0E8A263F-900C-4A0D-B0BE-435F4F7ABBA0}" type="pres">
      <dgm:prSet presAssocID="{AB6FAE30-7C74-45E0-AD98-1C405C86920C}" presName="iconBgRect" presStyleLbl="bgShp" presStyleIdx="0" presStyleCnt="3"/>
      <dgm:spPr>
        <a:prstGeom prst="round2DiagRect">
          <a:avLst>
            <a:gd name="adj1" fmla="val 29727"/>
            <a:gd name="adj2" fmla="val 0"/>
          </a:avLst>
        </a:prstGeom>
      </dgm:spPr>
    </dgm:pt>
    <dgm:pt modelId="{BB66A21C-B3FF-4EF1-85E9-2C4E162D35FF}" type="pres">
      <dgm:prSet presAssocID="{AB6FAE30-7C74-45E0-AD98-1C405C86920C}"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Handshake"/>
        </a:ext>
      </dgm:extLst>
    </dgm:pt>
    <dgm:pt modelId="{11A556F2-8347-4DC4-A81C-3BF59F34BCED}" type="pres">
      <dgm:prSet presAssocID="{AB6FAE30-7C74-45E0-AD98-1C405C86920C}" presName="spaceRect" presStyleCnt="0"/>
      <dgm:spPr/>
    </dgm:pt>
    <dgm:pt modelId="{23F1080E-2B79-49E8-86D1-E59835890C33}" type="pres">
      <dgm:prSet presAssocID="{AB6FAE30-7C74-45E0-AD98-1C405C86920C}" presName="textRect" presStyleLbl="revTx" presStyleIdx="0" presStyleCnt="3">
        <dgm:presLayoutVars>
          <dgm:chMax val="1"/>
          <dgm:chPref val="1"/>
        </dgm:presLayoutVars>
      </dgm:prSet>
      <dgm:spPr/>
    </dgm:pt>
    <dgm:pt modelId="{0ED4D9E4-B45E-4CAB-BD3C-D50FBCCA6385}" type="pres">
      <dgm:prSet presAssocID="{6F469DDC-1EBD-4FC0-903A-0495249344F4}" presName="sibTrans" presStyleCnt="0"/>
      <dgm:spPr/>
    </dgm:pt>
    <dgm:pt modelId="{86FE4093-0925-46EA-AB7D-6EE9FAA4A49C}" type="pres">
      <dgm:prSet presAssocID="{5489CE8D-6A5F-4E38-8905-805ECE0DF8F5}" presName="compNode" presStyleCnt="0"/>
      <dgm:spPr/>
    </dgm:pt>
    <dgm:pt modelId="{ADE61694-0D7D-42AA-B953-8A71E8C64EFE}" type="pres">
      <dgm:prSet presAssocID="{5489CE8D-6A5F-4E38-8905-805ECE0DF8F5}" presName="iconBgRect" presStyleLbl="bgShp" presStyleIdx="1" presStyleCnt="3"/>
      <dgm:spPr>
        <a:prstGeom prst="round2DiagRect">
          <a:avLst>
            <a:gd name="adj1" fmla="val 29727"/>
            <a:gd name="adj2" fmla="val 0"/>
          </a:avLst>
        </a:prstGeom>
      </dgm:spPr>
    </dgm:pt>
    <dgm:pt modelId="{E4EE3F83-F800-4FC4-9359-32FC8EFF0B2F}" type="pres">
      <dgm:prSet presAssocID="{5489CE8D-6A5F-4E38-8905-805ECE0DF8F5}"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omputer"/>
        </a:ext>
      </dgm:extLst>
    </dgm:pt>
    <dgm:pt modelId="{DA93E98E-3B4F-4342-BA04-BFAE98E09CDD}" type="pres">
      <dgm:prSet presAssocID="{5489CE8D-6A5F-4E38-8905-805ECE0DF8F5}" presName="spaceRect" presStyleCnt="0"/>
      <dgm:spPr/>
    </dgm:pt>
    <dgm:pt modelId="{6DB3262C-136D-4D1C-B179-F20CBCEF4DC6}" type="pres">
      <dgm:prSet presAssocID="{5489CE8D-6A5F-4E38-8905-805ECE0DF8F5}" presName="textRect" presStyleLbl="revTx" presStyleIdx="1" presStyleCnt="3">
        <dgm:presLayoutVars>
          <dgm:chMax val="1"/>
          <dgm:chPref val="1"/>
        </dgm:presLayoutVars>
      </dgm:prSet>
      <dgm:spPr/>
    </dgm:pt>
    <dgm:pt modelId="{4CCE4953-A5C6-4FD4-B365-4535F6CA44FD}" type="pres">
      <dgm:prSet presAssocID="{3702825A-85E1-4873-86FD-C5640A367CDE}" presName="sibTrans" presStyleCnt="0"/>
      <dgm:spPr/>
    </dgm:pt>
    <dgm:pt modelId="{214A43DC-7EF4-464A-A353-7A07807EBCFE}" type="pres">
      <dgm:prSet presAssocID="{C6D91894-1380-4F77-A047-D8E061B4044E}" presName="compNode" presStyleCnt="0"/>
      <dgm:spPr/>
    </dgm:pt>
    <dgm:pt modelId="{20DFD1FD-0D9F-4492-B330-E7EB38EE8DDE}" type="pres">
      <dgm:prSet presAssocID="{C6D91894-1380-4F77-A047-D8E061B4044E}" presName="iconBgRect" presStyleLbl="bgShp" presStyleIdx="2" presStyleCnt="3"/>
      <dgm:spPr>
        <a:prstGeom prst="round2DiagRect">
          <a:avLst>
            <a:gd name="adj1" fmla="val 29727"/>
            <a:gd name="adj2" fmla="val 0"/>
          </a:avLst>
        </a:prstGeom>
      </dgm:spPr>
    </dgm:pt>
    <dgm:pt modelId="{13137C55-BD40-43F5-B04B-1430881E0D42}" type="pres">
      <dgm:prSet presAssocID="{C6D91894-1380-4F77-A047-D8E061B4044E}"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Meeting"/>
        </a:ext>
      </dgm:extLst>
    </dgm:pt>
    <dgm:pt modelId="{AA2E1866-AF9F-4AE5-B9E9-5A12E21FF373}" type="pres">
      <dgm:prSet presAssocID="{C6D91894-1380-4F77-A047-D8E061B4044E}" presName="spaceRect" presStyleCnt="0"/>
      <dgm:spPr/>
    </dgm:pt>
    <dgm:pt modelId="{04FBFD8E-8245-4E68-B0CA-DB62058E282E}" type="pres">
      <dgm:prSet presAssocID="{C6D91894-1380-4F77-A047-D8E061B4044E}" presName="textRect" presStyleLbl="revTx" presStyleIdx="2" presStyleCnt="3">
        <dgm:presLayoutVars>
          <dgm:chMax val="1"/>
          <dgm:chPref val="1"/>
        </dgm:presLayoutVars>
      </dgm:prSet>
      <dgm:spPr/>
    </dgm:pt>
  </dgm:ptLst>
  <dgm:cxnLst>
    <dgm:cxn modelId="{E8C72B23-1BE4-470D-A56B-86AA17E667D6}" srcId="{DE5C93E0-CFAD-4790-90E8-00C58EA6C91B}" destId="{5489CE8D-6A5F-4E38-8905-805ECE0DF8F5}" srcOrd="1" destOrd="0" parTransId="{F2FE4987-90BC-4DC5-9F99-AB5E726E6B71}" sibTransId="{3702825A-85E1-4873-86FD-C5640A367CDE}"/>
    <dgm:cxn modelId="{CA640935-6018-42D3-B7C1-A491D33CE71E}" type="presOf" srcId="{DE5C93E0-CFAD-4790-90E8-00C58EA6C91B}" destId="{54FA4969-AB77-4FEB-9D48-68A7F79F87AB}" srcOrd="0" destOrd="0" presId="urn:microsoft.com/office/officeart/2018/5/layout/IconLeafLabelList"/>
    <dgm:cxn modelId="{619A1943-6851-4A19-A437-4F1F690A9432}" srcId="{DE5C93E0-CFAD-4790-90E8-00C58EA6C91B}" destId="{AB6FAE30-7C74-45E0-AD98-1C405C86920C}" srcOrd="0" destOrd="0" parTransId="{30C6B668-A809-4154-B1B6-3E77F73648F7}" sibTransId="{6F469DDC-1EBD-4FC0-903A-0495249344F4}"/>
    <dgm:cxn modelId="{52937651-2339-46E8-981B-504F85F5C6BF}" type="presOf" srcId="{AB6FAE30-7C74-45E0-AD98-1C405C86920C}" destId="{23F1080E-2B79-49E8-86D1-E59835890C33}" srcOrd="0" destOrd="0" presId="urn:microsoft.com/office/officeart/2018/5/layout/IconLeafLabelList"/>
    <dgm:cxn modelId="{463315B0-CAA3-4D7C-A0BA-78D2929B887D}" type="presOf" srcId="{C6D91894-1380-4F77-A047-D8E061B4044E}" destId="{04FBFD8E-8245-4E68-B0CA-DB62058E282E}" srcOrd="0" destOrd="0" presId="urn:microsoft.com/office/officeart/2018/5/layout/IconLeafLabelList"/>
    <dgm:cxn modelId="{0BD645BE-C68C-4FC0-84EC-5E8EEBAFC773}" srcId="{DE5C93E0-CFAD-4790-90E8-00C58EA6C91B}" destId="{C6D91894-1380-4F77-A047-D8E061B4044E}" srcOrd="2" destOrd="0" parTransId="{8D29688A-0D99-4D30-983D-139CFB07B481}" sibTransId="{B5D4B6AE-E60C-4982-8511-79124F8D1054}"/>
    <dgm:cxn modelId="{C65E0AF6-2066-4A42-B6DF-E576901FB6AA}" type="presOf" srcId="{5489CE8D-6A5F-4E38-8905-805ECE0DF8F5}" destId="{6DB3262C-136D-4D1C-B179-F20CBCEF4DC6}" srcOrd="0" destOrd="0" presId="urn:microsoft.com/office/officeart/2018/5/layout/IconLeafLabelList"/>
    <dgm:cxn modelId="{28682902-EA1C-4F6C-B991-EEEAE9E69C8B}" type="presParOf" srcId="{54FA4969-AB77-4FEB-9D48-68A7F79F87AB}" destId="{DC368023-519E-41F8-9781-5FAC90E308C2}" srcOrd="0" destOrd="0" presId="urn:microsoft.com/office/officeart/2018/5/layout/IconLeafLabelList"/>
    <dgm:cxn modelId="{46B3A1DB-F1A9-4D3C-9E65-34A266DCFCF3}" type="presParOf" srcId="{DC368023-519E-41F8-9781-5FAC90E308C2}" destId="{0E8A263F-900C-4A0D-B0BE-435F4F7ABBA0}" srcOrd="0" destOrd="0" presId="urn:microsoft.com/office/officeart/2018/5/layout/IconLeafLabelList"/>
    <dgm:cxn modelId="{73B83EEE-BCBA-40AC-A767-471BBF3DB508}" type="presParOf" srcId="{DC368023-519E-41F8-9781-5FAC90E308C2}" destId="{BB66A21C-B3FF-4EF1-85E9-2C4E162D35FF}" srcOrd="1" destOrd="0" presId="urn:microsoft.com/office/officeart/2018/5/layout/IconLeafLabelList"/>
    <dgm:cxn modelId="{838E8E1D-5F1C-4CBF-AA9A-B26BAC29A592}" type="presParOf" srcId="{DC368023-519E-41F8-9781-5FAC90E308C2}" destId="{11A556F2-8347-4DC4-A81C-3BF59F34BCED}" srcOrd="2" destOrd="0" presId="urn:microsoft.com/office/officeart/2018/5/layout/IconLeafLabelList"/>
    <dgm:cxn modelId="{01FCFAE3-36C8-4593-936E-53C4D5D267EF}" type="presParOf" srcId="{DC368023-519E-41F8-9781-5FAC90E308C2}" destId="{23F1080E-2B79-49E8-86D1-E59835890C33}" srcOrd="3" destOrd="0" presId="urn:microsoft.com/office/officeart/2018/5/layout/IconLeafLabelList"/>
    <dgm:cxn modelId="{4A9E637F-5FE9-4459-8E50-EC169D48B2A0}" type="presParOf" srcId="{54FA4969-AB77-4FEB-9D48-68A7F79F87AB}" destId="{0ED4D9E4-B45E-4CAB-BD3C-D50FBCCA6385}" srcOrd="1" destOrd="0" presId="urn:microsoft.com/office/officeart/2018/5/layout/IconLeafLabelList"/>
    <dgm:cxn modelId="{2627B52D-272A-4069-809E-7260F1E011E4}" type="presParOf" srcId="{54FA4969-AB77-4FEB-9D48-68A7F79F87AB}" destId="{86FE4093-0925-46EA-AB7D-6EE9FAA4A49C}" srcOrd="2" destOrd="0" presId="urn:microsoft.com/office/officeart/2018/5/layout/IconLeafLabelList"/>
    <dgm:cxn modelId="{40342192-6EC0-4195-9E02-36054A98C09C}" type="presParOf" srcId="{86FE4093-0925-46EA-AB7D-6EE9FAA4A49C}" destId="{ADE61694-0D7D-42AA-B953-8A71E8C64EFE}" srcOrd="0" destOrd="0" presId="urn:microsoft.com/office/officeart/2018/5/layout/IconLeafLabelList"/>
    <dgm:cxn modelId="{67FF1DE2-232E-449F-B78D-70D29F47D853}" type="presParOf" srcId="{86FE4093-0925-46EA-AB7D-6EE9FAA4A49C}" destId="{E4EE3F83-F800-4FC4-9359-32FC8EFF0B2F}" srcOrd="1" destOrd="0" presId="urn:microsoft.com/office/officeart/2018/5/layout/IconLeafLabelList"/>
    <dgm:cxn modelId="{DB50AC0E-B409-42B3-8BC3-76E6CD88C411}" type="presParOf" srcId="{86FE4093-0925-46EA-AB7D-6EE9FAA4A49C}" destId="{DA93E98E-3B4F-4342-BA04-BFAE98E09CDD}" srcOrd="2" destOrd="0" presId="urn:microsoft.com/office/officeart/2018/5/layout/IconLeafLabelList"/>
    <dgm:cxn modelId="{51D7A346-AD14-46DB-AFA3-58554571A67D}" type="presParOf" srcId="{86FE4093-0925-46EA-AB7D-6EE9FAA4A49C}" destId="{6DB3262C-136D-4D1C-B179-F20CBCEF4DC6}" srcOrd="3" destOrd="0" presId="urn:microsoft.com/office/officeart/2018/5/layout/IconLeafLabelList"/>
    <dgm:cxn modelId="{00C52541-1EDB-4B46-BA39-B938C2AA7D20}" type="presParOf" srcId="{54FA4969-AB77-4FEB-9D48-68A7F79F87AB}" destId="{4CCE4953-A5C6-4FD4-B365-4535F6CA44FD}" srcOrd="3" destOrd="0" presId="urn:microsoft.com/office/officeart/2018/5/layout/IconLeafLabelList"/>
    <dgm:cxn modelId="{AD3679E5-B120-453D-B0CB-B542E2D03888}" type="presParOf" srcId="{54FA4969-AB77-4FEB-9D48-68A7F79F87AB}" destId="{214A43DC-7EF4-464A-A353-7A07807EBCFE}" srcOrd="4" destOrd="0" presId="urn:microsoft.com/office/officeart/2018/5/layout/IconLeafLabelList"/>
    <dgm:cxn modelId="{9E852142-9B68-4D3F-913F-5A9E1ED98856}" type="presParOf" srcId="{214A43DC-7EF4-464A-A353-7A07807EBCFE}" destId="{20DFD1FD-0D9F-4492-B330-E7EB38EE8DDE}" srcOrd="0" destOrd="0" presId="urn:microsoft.com/office/officeart/2018/5/layout/IconLeafLabelList"/>
    <dgm:cxn modelId="{293AA507-181C-4B34-85B4-1A0413C89336}" type="presParOf" srcId="{214A43DC-7EF4-464A-A353-7A07807EBCFE}" destId="{13137C55-BD40-43F5-B04B-1430881E0D42}" srcOrd="1" destOrd="0" presId="urn:microsoft.com/office/officeart/2018/5/layout/IconLeafLabelList"/>
    <dgm:cxn modelId="{27C88C54-3974-4839-B572-9B1693C2D664}" type="presParOf" srcId="{214A43DC-7EF4-464A-A353-7A07807EBCFE}" destId="{AA2E1866-AF9F-4AE5-B9E9-5A12E21FF373}" srcOrd="2" destOrd="0" presId="urn:microsoft.com/office/officeart/2018/5/layout/IconLeafLabelList"/>
    <dgm:cxn modelId="{8B39AAAD-CAF4-4066-96F5-72F0CF1EABCA}" type="presParOf" srcId="{214A43DC-7EF4-464A-A353-7A07807EBCFE}" destId="{04FBFD8E-8245-4E68-B0CA-DB62058E282E}" srcOrd="3" destOrd="0" presId="urn:microsoft.com/office/officeart/2018/5/layout/IconLeaf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EBB30F9-A5A4-424D-A5EA-048B021B9AE6}">
      <dsp:nvSpPr>
        <dsp:cNvPr id="0" name=""/>
        <dsp:cNvSpPr/>
      </dsp:nvSpPr>
      <dsp:spPr>
        <a:xfrm>
          <a:off x="0" y="708097"/>
          <a:ext cx="10515600" cy="1307257"/>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F92EA0B-7A8F-46F5-A184-9A2864E72F7A}">
      <dsp:nvSpPr>
        <dsp:cNvPr id="0" name=""/>
        <dsp:cNvSpPr/>
      </dsp:nvSpPr>
      <dsp:spPr>
        <a:xfrm>
          <a:off x="395445" y="1002230"/>
          <a:ext cx="718991" cy="7189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9C19F37-BA4F-4C0E-BF77-67FBF1F7E875}">
      <dsp:nvSpPr>
        <dsp:cNvPr id="0" name=""/>
        <dsp:cNvSpPr/>
      </dsp:nvSpPr>
      <dsp:spPr>
        <a:xfrm>
          <a:off x="1509882" y="708097"/>
          <a:ext cx="4732020" cy="130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351" tIns="138351" rIns="138351" bIns="138351" numCol="1" spcCol="1270" anchor="ctr" anchorCtr="0">
          <a:noAutofit/>
        </a:bodyPr>
        <a:lstStyle/>
        <a:p>
          <a:pPr marL="0" lvl="0" indent="0" algn="l" defTabSz="977900">
            <a:lnSpc>
              <a:spcPct val="100000"/>
            </a:lnSpc>
            <a:spcBef>
              <a:spcPct val="0"/>
            </a:spcBef>
            <a:spcAft>
              <a:spcPct val="35000"/>
            </a:spcAft>
            <a:buNone/>
          </a:pPr>
          <a:r>
            <a:rPr lang="en-GB" sz="2200" kern="1200" dirty="0"/>
            <a:t>How can Databricks capabilities provide a better experience for ICG?</a:t>
          </a:r>
          <a:endParaRPr lang="en-US" sz="2200" kern="1200" dirty="0"/>
        </a:p>
      </dsp:txBody>
      <dsp:txXfrm>
        <a:off x="1509882" y="708097"/>
        <a:ext cx="4732020" cy="1307257"/>
      </dsp:txXfrm>
    </dsp:sp>
    <dsp:sp modelId="{88D906CA-D015-4CE1-9346-4B30F16C4063}">
      <dsp:nvSpPr>
        <dsp:cNvPr id="0" name=""/>
        <dsp:cNvSpPr/>
      </dsp:nvSpPr>
      <dsp:spPr>
        <a:xfrm>
          <a:off x="6241902" y="708097"/>
          <a:ext cx="4273697" cy="130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351" tIns="138351" rIns="138351" bIns="138351" numCol="1" spcCol="1270" anchor="ctr" anchorCtr="0">
          <a:noAutofit/>
        </a:bodyPr>
        <a:lstStyle/>
        <a:p>
          <a:pPr marL="0" lvl="0" indent="0" algn="l" defTabSz="755650">
            <a:lnSpc>
              <a:spcPct val="100000"/>
            </a:lnSpc>
            <a:spcBef>
              <a:spcPct val="0"/>
            </a:spcBef>
            <a:spcAft>
              <a:spcPct val="35000"/>
            </a:spcAft>
            <a:buNone/>
          </a:pPr>
          <a:r>
            <a:rPr lang="en-GB" sz="1700" kern="1200"/>
            <a:t>Real-time analytics and streaming</a:t>
          </a:r>
          <a:endParaRPr lang="en-US" sz="1700" kern="1200"/>
        </a:p>
        <a:p>
          <a:pPr marL="0" lvl="0" indent="0" algn="l" defTabSz="755650">
            <a:lnSpc>
              <a:spcPct val="100000"/>
            </a:lnSpc>
            <a:spcBef>
              <a:spcPct val="0"/>
            </a:spcBef>
            <a:spcAft>
              <a:spcPct val="35000"/>
            </a:spcAft>
            <a:buNone/>
          </a:pPr>
          <a:r>
            <a:rPr lang="en-GB" sz="1700" kern="1200"/>
            <a:t>Time-series analytics</a:t>
          </a:r>
          <a:endParaRPr lang="en-US" sz="1700" kern="1200"/>
        </a:p>
        <a:p>
          <a:pPr marL="0" lvl="0" indent="0" algn="l" defTabSz="755650">
            <a:lnSpc>
              <a:spcPct val="100000"/>
            </a:lnSpc>
            <a:spcBef>
              <a:spcPct val="0"/>
            </a:spcBef>
            <a:spcAft>
              <a:spcPct val="35000"/>
            </a:spcAft>
            <a:buNone/>
          </a:pPr>
          <a:r>
            <a:rPr lang="en-GB" sz="1700" kern="1200"/>
            <a:t>Delta sharing </a:t>
          </a:r>
          <a:endParaRPr lang="en-US" sz="1700" kern="1200"/>
        </a:p>
      </dsp:txBody>
      <dsp:txXfrm>
        <a:off x="6241902" y="708097"/>
        <a:ext cx="4273697" cy="1307257"/>
      </dsp:txXfrm>
    </dsp:sp>
    <dsp:sp modelId="{728929C3-0491-4F08-B2A9-9C7B37324E63}">
      <dsp:nvSpPr>
        <dsp:cNvPr id="0" name=""/>
        <dsp:cNvSpPr/>
      </dsp:nvSpPr>
      <dsp:spPr>
        <a:xfrm>
          <a:off x="0" y="2342169"/>
          <a:ext cx="10515600" cy="1307257"/>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A1445E4-B016-4BEE-AA58-5C86D722B4F1}">
      <dsp:nvSpPr>
        <dsp:cNvPr id="0" name=""/>
        <dsp:cNvSpPr/>
      </dsp:nvSpPr>
      <dsp:spPr>
        <a:xfrm>
          <a:off x="395445" y="2636302"/>
          <a:ext cx="718991" cy="718991"/>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309F0BB-77FD-4E4F-87A4-283CBE2F014C}">
      <dsp:nvSpPr>
        <dsp:cNvPr id="0" name=""/>
        <dsp:cNvSpPr/>
      </dsp:nvSpPr>
      <dsp:spPr>
        <a:xfrm>
          <a:off x="1509882" y="2342169"/>
          <a:ext cx="9005717" cy="130725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8351" tIns="138351" rIns="138351" bIns="138351" numCol="1" spcCol="1270" anchor="ctr" anchorCtr="0">
          <a:noAutofit/>
        </a:bodyPr>
        <a:lstStyle/>
        <a:p>
          <a:pPr marL="0" lvl="0" indent="0" algn="l" defTabSz="977900">
            <a:lnSpc>
              <a:spcPct val="100000"/>
            </a:lnSpc>
            <a:spcBef>
              <a:spcPct val="0"/>
            </a:spcBef>
            <a:spcAft>
              <a:spcPct val="35000"/>
            </a:spcAft>
            <a:buNone/>
          </a:pPr>
          <a:r>
            <a:rPr lang="en-GB" sz="2200" kern="1200" dirty="0"/>
            <a:t>A case study to provide a first-hand account of how effective fully adopting Databricks is for ICG.</a:t>
          </a:r>
        </a:p>
      </dsp:txBody>
      <dsp:txXfrm>
        <a:off x="1509882" y="2342169"/>
        <a:ext cx="9005717" cy="130725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89E76E9-78EB-4C07-BD35-A2C3F2962872}">
      <dsp:nvSpPr>
        <dsp:cNvPr id="0" name=""/>
        <dsp:cNvSpPr/>
      </dsp:nvSpPr>
      <dsp:spPr>
        <a:xfrm>
          <a:off x="0" y="156225"/>
          <a:ext cx="10515600" cy="965908"/>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kern="1200" dirty="0"/>
            <a:t>Richer and more accurate information to allowing better decisions</a:t>
          </a:r>
          <a:br>
            <a:rPr lang="en-GB" sz="2100" kern="1200" dirty="0"/>
          </a:br>
          <a:r>
            <a:rPr lang="en-GB" sz="2100" kern="1200" dirty="0"/>
            <a:t>	Allows for process streaming +batch data in one unified platform</a:t>
          </a:r>
          <a:endParaRPr lang="en-US" sz="2100" kern="1200" dirty="0"/>
        </a:p>
      </dsp:txBody>
      <dsp:txXfrm>
        <a:off x="47152" y="203377"/>
        <a:ext cx="10421296" cy="871604"/>
      </dsp:txXfrm>
    </dsp:sp>
    <dsp:sp modelId="{71160D00-EB4F-4761-AF36-6D6B49D29D74}">
      <dsp:nvSpPr>
        <dsp:cNvPr id="0" name=""/>
        <dsp:cNvSpPr/>
      </dsp:nvSpPr>
      <dsp:spPr>
        <a:xfrm>
          <a:off x="0" y="1182613"/>
          <a:ext cx="10515600" cy="965908"/>
        </a:xfrm>
        <a:prstGeom prst="roundRect">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kern="1200" dirty="0"/>
            <a:t>Manage market reporting at lower cost and greater accuracy</a:t>
          </a:r>
        </a:p>
        <a:p>
          <a:pPr marL="0" lvl="0" indent="0" algn="l" defTabSz="933450">
            <a:lnSpc>
              <a:spcPct val="90000"/>
            </a:lnSpc>
            <a:spcBef>
              <a:spcPct val="0"/>
            </a:spcBef>
            <a:spcAft>
              <a:spcPct val="35000"/>
            </a:spcAft>
            <a:buNone/>
          </a:pPr>
          <a:r>
            <a:rPr lang="en-GB" sz="2100" kern="1200" dirty="0"/>
            <a:t>	Power intraday dashboards for risk, liquidity, and performance</a:t>
          </a:r>
          <a:endParaRPr lang="en-US" sz="2100" kern="1200" dirty="0"/>
        </a:p>
      </dsp:txBody>
      <dsp:txXfrm>
        <a:off x="47152" y="1229765"/>
        <a:ext cx="10421296" cy="871604"/>
      </dsp:txXfrm>
    </dsp:sp>
    <dsp:sp modelId="{1C1D935E-9473-493B-8828-168476B579AA}">
      <dsp:nvSpPr>
        <dsp:cNvPr id="0" name=""/>
        <dsp:cNvSpPr/>
      </dsp:nvSpPr>
      <dsp:spPr>
        <a:xfrm>
          <a:off x="0" y="2209001"/>
          <a:ext cx="10515600" cy="965908"/>
        </a:xfrm>
        <a:prstGeom prst="roundRect">
          <a:avLst/>
        </a:prstGeom>
        <a:solidFill>
          <a:schemeClr val="accent2">
            <a:hueOff val="4295743"/>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kern="1200" dirty="0"/>
            <a:t>Faster real time information to allow faster business decisions to outpace competitors</a:t>
          </a:r>
        </a:p>
        <a:p>
          <a:pPr marL="0" lvl="0" indent="0" algn="l" defTabSz="933450">
            <a:lnSpc>
              <a:spcPct val="90000"/>
            </a:lnSpc>
            <a:spcBef>
              <a:spcPct val="0"/>
            </a:spcBef>
            <a:spcAft>
              <a:spcPct val="35000"/>
            </a:spcAft>
            <a:buNone/>
          </a:pPr>
          <a:r>
            <a:rPr lang="en-GB" sz="2100" kern="1200" dirty="0"/>
            <a:t>	Reduce latency between data arrival and business action</a:t>
          </a:r>
          <a:endParaRPr lang="en-US" sz="2100" kern="1200" dirty="0"/>
        </a:p>
      </dsp:txBody>
      <dsp:txXfrm>
        <a:off x="47152" y="2256153"/>
        <a:ext cx="10421296" cy="871604"/>
      </dsp:txXfrm>
    </dsp:sp>
    <dsp:sp modelId="{4BA762B5-7697-4083-BFD6-336C9FB9F74E}">
      <dsp:nvSpPr>
        <dsp:cNvPr id="0" name=""/>
        <dsp:cNvSpPr/>
      </dsp:nvSpPr>
      <dsp:spPr>
        <a:xfrm>
          <a:off x="0" y="3235390"/>
          <a:ext cx="10515600" cy="965908"/>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GB" sz="2100" kern="1200" dirty="0"/>
            <a:t>Provide a market changing experience for your customers while driving internal efficiency</a:t>
          </a:r>
        </a:p>
        <a:p>
          <a:pPr marL="0" lvl="0" indent="0" algn="l" defTabSz="933450">
            <a:lnSpc>
              <a:spcPct val="90000"/>
            </a:lnSpc>
            <a:spcBef>
              <a:spcPct val="0"/>
            </a:spcBef>
            <a:spcAft>
              <a:spcPct val="35000"/>
            </a:spcAft>
            <a:buNone/>
          </a:pPr>
          <a:r>
            <a:rPr lang="en-GB" sz="2100" kern="1200" dirty="0"/>
            <a:t>	Supports time‑sensitive capital‑markets workflows</a:t>
          </a:r>
          <a:endParaRPr lang="en-US" sz="2100" kern="1200" dirty="0"/>
        </a:p>
      </dsp:txBody>
      <dsp:txXfrm>
        <a:off x="47152" y="3282542"/>
        <a:ext cx="10421296" cy="87160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0DE9D4-2BE7-432E-BB9E-895D03BAB67A}">
      <dsp:nvSpPr>
        <dsp:cNvPr id="0" name=""/>
        <dsp:cNvSpPr/>
      </dsp:nvSpPr>
      <dsp:spPr>
        <a:xfrm>
          <a:off x="0" y="52061"/>
          <a:ext cx="10515600" cy="135252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GB" sz="3400" kern="1200"/>
            <a:t>Centralised access control across table, files, dashboards and ML models </a:t>
          </a:r>
          <a:endParaRPr lang="en-US" sz="3400" kern="1200"/>
        </a:p>
      </dsp:txBody>
      <dsp:txXfrm>
        <a:off x="66025" y="118086"/>
        <a:ext cx="10383550" cy="1220470"/>
      </dsp:txXfrm>
    </dsp:sp>
    <dsp:sp modelId="{009534E7-4E57-4095-B8FD-2704E57B4870}">
      <dsp:nvSpPr>
        <dsp:cNvPr id="0" name=""/>
        <dsp:cNvSpPr/>
      </dsp:nvSpPr>
      <dsp:spPr>
        <a:xfrm>
          <a:off x="0" y="1502501"/>
          <a:ext cx="10515600" cy="1352520"/>
        </a:xfrm>
        <a:prstGeom prst="roundRec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GB" sz="3400" kern="1200"/>
            <a:t>Automated lineage for full auditability</a:t>
          </a:r>
          <a:endParaRPr lang="en-US" sz="3400" kern="1200"/>
        </a:p>
      </dsp:txBody>
      <dsp:txXfrm>
        <a:off x="66025" y="1568526"/>
        <a:ext cx="10383550" cy="1220470"/>
      </dsp:txXfrm>
    </dsp:sp>
    <dsp:sp modelId="{EBBC3252-A90A-461D-991C-D651AC125267}">
      <dsp:nvSpPr>
        <dsp:cNvPr id="0" name=""/>
        <dsp:cNvSpPr/>
      </dsp:nvSpPr>
      <dsp:spPr>
        <a:xfrm>
          <a:off x="0" y="2952941"/>
          <a:ext cx="10515600" cy="135252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GB" sz="3400" kern="1200"/>
            <a:t>Supports secure collaboration across teams</a:t>
          </a:r>
          <a:endParaRPr lang="en-US" sz="3400" kern="1200"/>
        </a:p>
      </dsp:txBody>
      <dsp:txXfrm>
        <a:off x="66025" y="3018966"/>
        <a:ext cx="10383550" cy="122047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ADB6C6C-68EF-4EA6-98EC-732FE1BA5C99}">
      <dsp:nvSpPr>
        <dsp:cNvPr id="0" name=""/>
        <dsp:cNvSpPr/>
      </dsp:nvSpPr>
      <dsp:spPr>
        <a:xfrm>
          <a:off x="0" y="361121"/>
          <a:ext cx="10515600" cy="83538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GB" sz="3400" kern="1200"/>
            <a:t>Declarative pipelines reduce manual engineering work</a:t>
          </a:r>
          <a:endParaRPr lang="en-US" sz="3400" kern="1200"/>
        </a:p>
      </dsp:txBody>
      <dsp:txXfrm>
        <a:off x="40780" y="401901"/>
        <a:ext cx="10434040" cy="753820"/>
      </dsp:txXfrm>
    </dsp:sp>
    <dsp:sp modelId="{CD5AB252-A669-4914-8382-08E04ABD398F}">
      <dsp:nvSpPr>
        <dsp:cNvPr id="0" name=""/>
        <dsp:cNvSpPr/>
      </dsp:nvSpPr>
      <dsp:spPr>
        <a:xfrm>
          <a:off x="0" y="1294422"/>
          <a:ext cx="10515600" cy="835380"/>
        </a:xfrm>
        <a:prstGeom prst="roundRect">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GB" sz="3400" kern="1200"/>
            <a:t>Built‑in data quality checks and monitoring</a:t>
          </a:r>
          <a:endParaRPr lang="en-US" sz="3400" kern="1200"/>
        </a:p>
      </dsp:txBody>
      <dsp:txXfrm>
        <a:off x="40780" y="1335202"/>
        <a:ext cx="10434040" cy="753820"/>
      </dsp:txXfrm>
    </dsp:sp>
    <dsp:sp modelId="{5B5F2464-D7D6-4498-8047-A0B865D44A3D}">
      <dsp:nvSpPr>
        <dsp:cNvPr id="0" name=""/>
        <dsp:cNvSpPr/>
      </dsp:nvSpPr>
      <dsp:spPr>
        <a:xfrm>
          <a:off x="0" y="2227722"/>
          <a:ext cx="10515600" cy="835380"/>
        </a:xfrm>
        <a:prstGeom prst="roundRect">
          <a:avLst/>
        </a:prstGeom>
        <a:solidFill>
          <a:schemeClr val="accent2">
            <a:hueOff val="4295743"/>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GB" sz="3400" kern="1200"/>
            <a:t>Supports both streaming and batch workloads</a:t>
          </a:r>
          <a:endParaRPr lang="en-US" sz="3400" kern="1200"/>
        </a:p>
      </dsp:txBody>
      <dsp:txXfrm>
        <a:off x="40780" y="2268502"/>
        <a:ext cx="10434040" cy="753820"/>
      </dsp:txXfrm>
    </dsp:sp>
    <dsp:sp modelId="{3B685DFB-7BCC-4A9E-97CA-C5D8B0BF5BFD}">
      <dsp:nvSpPr>
        <dsp:cNvPr id="0" name=""/>
        <dsp:cNvSpPr/>
      </dsp:nvSpPr>
      <dsp:spPr>
        <a:xfrm>
          <a:off x="0" y="3161022"/>
          <a:ext cx="10515600" cy="83538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l" defTabSz="1511300">
            <a:lnSpc>
              <a:spcPct val="90000"/>
            </a:lnSpc>
            <a:spcBef>
              <a:spcPct val="0"/>
            </a:spcBef>
            <a:spcAft>
              <a:spcPct val="35000"/>
            </a:spcAft>
            <a:buNone/>
          </a:pPr>
          <a:r>
            <a:rPr lang="en-GB" sz="3400" kern="1200"/>
            <a:t>Reduces pipeline failures and operational overhead</a:t>
          </a:r>
          <a:endParaRPr lang="en-US" sz="3400" kern="1200"/>
        </a:p>
      </dsp:txBody>
      <dsp:txXfrm>
        <a:off x="40780" y="3201802"/>
        <a:ext cx="10434040" cy="75382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BF8E055-B2D8-4217-82EC-E7D0A972D1BC}">
      <dsp:nvSpPr>
        <dsp:cNvPr id="0" name=""/>
        <dsp:cNvSpPr/>
      </dsp:nvSpPr>
      <dsp:spPr>
        <a:xfrm>
          <a:off x="0" y="364812"/>
          <a:ext cx="10515600" cy="1153620"/>
        </a:xfrm>
        <a:prstGeom prst="round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GB" sz="2900" kern="1200"/>
            <a:t>Problem: market data was deliver slowly which forced analysts to spend more time integrating the data rather than modelling</a:t>
          </a:r>
          <a:endParaRPr lang="en-US" sz="2900" kern="1200"/>
        </a:p>
      </dsp:txBody>
      <dsp:txXfrm>
        <a:off x="56315" y="421127"/>
        <a:ext cx="10402970" cy="1040990"/>
      </dsp:txXfrm>
    </dsp:sp>
    <dsp:sp modelId="{7A216B26-2E78-4779-AFAF-9E1672E326B8}">
      <dsp:nvSpPr>
        <dsp:cNvPr id="0" name=""/>
        <dsp:cNvSpPr/>
      </dsp:nvSpPr>
      <dsp:spPr>
        <a:xfrm>
          <a:off x="0" y="1601952"/>
          <a:ext cx="10515600" cy="1153620"/>
        </a:xfrm>
        <a:prstGeom prst="roundRec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GB" sz="2900" kern="1200"/>
            <a:t>Solutions: Delta sharing, Agent Bricks  + Databricks AI, Unified platform</a:t>
          </a:r>
          <a:endParaRPr lang="en-US" sz="2900" kern="1200"/>
        </a:p>
      </dsp:txBody>
      <dsp:txXfrm>
        <a:off x="56315" y="1658267"/>
        <a:ext cx="10402970" cy="1040990"/>
      </dsp:txXfrm>
    </dsp:sp>
    <dsp:sp modelId="{98009C8C-4524-4B4A-AD85-08DB1A8B6F0E}">
      <dsp:nvSpPr>
        <dsp:cNvPr id="0" name=""/>
        <dsp:cNvSpPr/>
      </dsp:nvSpPr>
      <dsp:spPr>
        <a:xfrm>
          <a:off x="0" y="2839091"/>
          <a:ext cx="10515600" cy="1153620"/>
        </a:xfrm>
        <a:prstGeom prst="roundRec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l" defTabSz="1289050">
            <a:lnSpc>
              <a:spcPct val="90000"/>
            </a:lnSpc>
            <a:spcBef>
              <a:spcPct val="0"/>
            </a:spcBef>
            <a:spcAft>
              <a:spcPct val="35000"/>
            </a:spcAft>
            <a:buNone/>
          </a:pPr>
          <a:r>
            <a:rPr lang="en-GB" sz="2900" kern="1200"/>
            <a:t>Impact on LSEG: Faster data onboarding, Accelerated AI production, lower operational friction</a:t>
          </a:r>
          <a:endParaRPr lang="en-US" sz="2900" kern="1200"/>
        </a:p>
      </dsp:txBody>
      <dsp:txXfrm>
        <a:off x="56315" y="2895406"/>
        <a:ext cx="10402970" cy="1040990"/>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E8A263F-900C-4A0D-B0BE-435F4F7ABBA0}">
      <dsp:nvSpPr>
        <dsp:cNvPr id="0" name=""/>
        <dsp:cNvSpPr/>
      </dsp:nvSpPr>
      <dsp:spPr>
        <a:xfrm>
          <a:off x="679050" y="578168"/>
          <a:ext cx="1887187" cy="1887187"/>
        </a:xfrm>
        <a:prstGeom prst="round2DiagRect">
          <a:avLst>
            <a:gd name="adj1" fmla="val 29727"/>
            <a:gd name="adj2" fmla="val 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B66A21C-B3FF-4EF1-85E9-2C4E162D35FF}">
      <dsp:nvSpPr>
        <dsp:cNvPr id="0" name=""/>
        <dsp:cNvSpPr/>
      </dsp:nvSpPr>
      <dsp:spPr>
        <a:xfrm>
          <a:off x="1081237" y="980356"/>
          <a:ext cx="1082812" cy="10828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3F1080E-2B79-49E8-86D1-E59835890C33}">
      <dsp:nvSpPr>
        <dsp:cNvPr id="0" name=""/>
        <dsp:cNvSpPr/>
      </dsp:nvSpPr>
      <dsp:spPr>
        <a:xfrm>
          <a:off x="75768"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GB" sz="1700" kern="1200"/>
            <a:t>Engage your business stakeholder for a business demo </a:t>
          </a:r>
          <a:endParaRPr lang="en-US" sz="1700" kern="1200"/>
        </a:p>
      </dsp:txBody>
      <dsp:txXfrm>
        <a:off x="75768" y="3053169"/>
        <a:ext cx="3093750" cy="720000"/>
      </dsp:txXfrm>
    </dsp:sp>
    <dsp:sp modelId="{ADE61694-0D7D-42AA-B953-8A71E8C64EFE}">
      <dsp:nvSpPr>
        <dsp:cNvPr id="0" name=""/>
        <dsp:cNvSpPr/>
      </dsp:nvSpPr>
      <dsp:spPr>
        <a:xfrm>
          <a:off x="4314206" y="578168"/>
          <a:ext cx="1887187" cy="1887187"/>
        </a:xfrm>
        <a:prstGeom prst="round2DiagRect">
          <a:avLst>
            <a:gd name="adj1" fmla="val 29727"/>
            <a:gd name="adj2" fmla="val 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EE3F83-F800-4FC4-9359-32FC8EFF0B2F}">
      <dsp:nvSpPr>
        <dsp:cNvPr id="0" name=""/>
        <dsp:cNvSpPr/>
      </dsp:nvSpPr>
      <dsp:spPr>
        <a:xfrm>
          <a:off x="4716393" y="980356"/>
          <a:ext cx="1082812" cy="10828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DB3262C-136D-4D1C-B179-F20CBCEF4DC6}">
      <dsp:nvSpPr>
        <dsp:cNvPr id="0" name=""/>
        <dsp:cNvSpPr/>
      </dsp:nvSpPr>
      <dsp:spPr>
        <a:xfrm>
          <a:off x="3710925"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GB" sz="1700" kern="1200"/>
            <a:t>Workshop – todays architecture vs future architecture for ICG</a:t>
          </a:r>
          <a:endParaRPr lang="en-US" sz="1700" kern="1200"/>
        </a:p>
      </dsp:txBody>
      <dsp:txXfrm>
        <a:off x="3710925" y="3053169"/>
        <a:ext cx="3093750" cy="720000"/>
      </dsp:txXfrm>
    </dsp:sp>
    <dsp:sp modelId="{20DFD1FD-0D9F-4492-B330-E7EB38EE8DDE}">
      <dsp:nvSpPr>
        <dsp:cNvPr id="0" name=""/>
        <dsp:cNvSpPr/>
      </dsp:nvSpPr>
      <dsp:spPr>
        <a:xfrm>
          <a:off x="7949362" y="578168"/>
          <a:ext cx="1887187" cy="1887187"/>
        </a:xfrm>
        <a:prstGeom prst="round2DiagRect">
          <a:avLst>
            <a:gd name="adj1" fmla="val 29727"/>
            <a:gd name="adj2" fmla="val 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137C55-BD40-43F5-B04B-1430881E0D42}">
      <dsp:nvSpPr>
        <dsp:cNvPr id="0" name=""/>
        <dsp:cNvSpPr/>
      </dsp:nvSpPr>
      <dsp:spPr>
        <a:xfrm>
          <a:off x="8351550" y="980356"/>
          <a:ext cx="1082812" cy="1082812"/>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4FBFD8E-8245-4E68-B0CA-DB62058E282E}">
      <dsp:nvSpPr>
        <dsp:cNvPr id="0" name=""/>
        <dsp:cNvSpPr/>
      </dsp:nvSpPr>
      <dsp:spPr>
        <a:xfrm>
          <a:off x="7346081" y="3053169"/>
          <a:ext cx="30937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defRPr cap="all"/>
          </a:pPr>
          <a:r>
            <a:rPr lang="en-GB" sz="1700" kern="1200"/>
            <a:t>Invite you to our FSI forum in May and Summit in June </a:t>
          </a:r>
          <a:endParaRPr lang="en-US" sz="1700" kern="1200"/>
        </a:p>
      </dsp:txBody>
      <dsp:txXfrm>
        <a:off x="7346081" y="3053169"/>
        <a:ext cx="309375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18/5/layout/IconLeafLabelList">
  <dgm:title val="Icon Leaf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round2DiagRect" r:blip="">
            <dgm:adjLst/>
            <dgm:extLst>
              <a:ext uri="{B698B0E9-8C71-41B9-8309-B3DCBF30829C}">
                <dgm1612:spPr xmlns:dgm1612="http://schemas.microsoft.com/office/drawing/2016/12/diagram">
                  <a:prstGeom prst="round2DiagRect">
                    <a:avLst>
                      <a:gd name="adj1" fmla="val 29727"/>
                      <a:gd name="adj2" fmla="val 0"/>
                    </a:avLst>
                  </a:prstGeom>
                </dgm1612:spPr>
              </a:ext>
            </dgm:ext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132385F-2D7D-4AA9-9D31-667CED01EFD4}" type="datetimeFigureOut">
              <a:rPr lang="en-GB" smtClean="0"/>
              <a:t>29/06/2026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7794D5E-7A02-4D85-8396-38B423B53FB0}" type="slidenum">
              <a:rPr lang="en-GB" smtClean="0"/>
              <a:t>‹#›</a:t>
            </a:fld>
            <a:endParaRPr lang="en-GB"/>
          </a:p>
        </p:txBody>
      </p:sp>
    </p:spTree>
    <p:extLst>
      <p:ext uri="{BB962C8B-B14F-4D97-AF65-F5344CB8AC3E}">
        <p14:creationId xmlns:p14="http://schemas.microsoft.com/office/powerpoint/2010/main" val="27368653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B7794D5E-7A02-4D85-8396-38B423B53FB0}" type="slidenum">
              <a:rPr lang="en-GB" smtClean="0"/>
              <a:t>1</a:t>
            </a:fld>
            <a:endParaRPr lang="en-GB"/>
          </a:p>
        </p:txBody>
      </p:sp>
    </p:spTree>
    <p:extLst>
      <p:ext uri="{BB962C8B-B14F-4D97-AF65-F5344CB8AC3E}">
        <p14:creationId xmlns:p14="http://schemas.microsoft.com/office/powerpoint/2010/main" val="27886269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 thank you for your time today. I currently understand that you currently use Databricks for Etl. However, you have heard good thing about Databricks from you new employee from the LSEG. It is clear that Databricks can improve the speed and governance of your operations at ICG. However today I am going to go though How Databricks capabilities provide a better experience for ICG. In three main areas: Real time analytics and streaming – Time-series analytics – Delta sharing. To finish off today we will go though a case </a:t>
            </a:r>
            <a:r>
              <a:rPr lang="en-GB" dirty="0" err="1"/>
              <a:t>studt</a:t>
            </a:r>
            <a:r>
              <a:rPr lang="en-GB" dirty="0"/>
              <a:t> to provide evidence that Databricks can make your business more efficient. </a:t>
            </a:r>
          </a:p>
        </p:txBody>
      </p:sp>
      <p:sp>
        <p:nvSpPr>
          <p:cNvPr id="4" name="Slide Number Placeholder 3"/>
          <p:cNvSpPr>
            <a:spLocks noGrp="1"/>
          </p:cNvSpPr>
          <p:nvPr>
            <p:ph type="sldNum" sz="quarter" idx="5"/>
          </p:nvPr>
        </p:nvSpPr>
        <p:spPr/>
        <p:txBody>
          <a:bodyPr/>
          <a:lstStyle/>
          <a:p>
            <a:fld id="{B7794D5E-7A02-4D85-8396-38B423B53FB0}" type="slidenum">
              <a:rPr lang="en-GB" smtClean="0"/>
              <a:t>2</a:t>
            </a:fld>
            <a:endParaRPr lang="en-GB"/>
          </a:p>
        </p:txBody>
      </p:sp>
    </p:spTree>
    <p:extLst>
      <p:ext uri="{BB962C8B-B14F-4D97-AF65-F5344CB8AC3E}">
        <p14:creationId xmlns:p14="http://schemas.microsoft.com/office/powerpoint/2010/main" val="390618024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871738-1EBB-A469-5D58-115BF37427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6AB174-8AB0-AACA-A17F-124F5A7EDD8B}"/>
              </a:ext>
            </a:extLst>
          </p:cNvPr>
          <p:cNvSpPr>
            <a:spLocks noGrp="1" noRot="1" noChangeAspect="1"/>
          </p:cNvSpPr>
          <p:nvPr>
            <p:ph type="sldImg"/>
          </p:nvPr>
        </p:nvSpPr>
        <p:spPr/>
        <p:txBody>
          <a:bodyPr/>
          <a:lstStyle/>
          <a:p>
            <a:endParaRPr lang="en-GB"/>
          </a:p>
        </p:txBody>
      </p:sp>
      <p:sp>
        <p:nvSpPr>
          <p:cNvPr id="3" name="Notes Placeholder 2">
            <a:extLst>
              <a:ext uri="{FF2B5EF4-FFF2-40B4-BE49-F238E27FC236}">
                <a16:creationId xmlns:a16="http://schemas.microsoft.com/office/drawing/2014/main" id="{E08A9F0D-0F42-B8BD-493B-085C6D07C4D0}"/>
              </a:ext>
            </a:extLst>
          </p:cNvPr>
          <p:cNvSpPr>
            <a:spLocks noGrp="1"/>
          </p:cNvSpPr>
          <p:nvPr>
            <p:ph type="body" idx="1"/>
          </p:nvPr>
        </p:nvSpPr>
        <p:spPr/>
        <p:txBody>
          <a:bodyPr/>
          <a:lstStyle/>
          <a:p>
            <a:pPr marL="171450" indent="-171450">
              <a:buFont typeface="Arial" panose="020B0604020202020204" pitchFamily="34" charset="0"/>
              <a:buChar char="•"/>
            </a:pPr>
            <a:r>
              <a:rPr lang="en-GB" dirty="0"/>
              <a:t>Process streaming - allows for richer data sets and stock exchange data processing in real time giving an advantage over other computers </a:t>
            </a:r>
          </a:p>
          <a:p>
            <a:pPr marL="171450" indent="-171450">
              <a:buFont typeface="Arial" panose="020B0604020202020204" pitchFamily="34" charset="0"/>
              <a:buChar char="•"/>
            </a:pPr>
            <a:r>
              <a:rPr lang="en-GB" dirty="0"/>
              <a:t>Batch data – allows for the past stock exchange data and more to be processed in one place, will significantly reduce time for market reports to be created by Benoît Durteste, therefor more time can be spent on other aspects of the business. </a:t>
            </a:r>
          </a:p>
          <a:p>
            <a:pPr marL="171450" indent="-171450">
              <a:buFont typeface="Arial" panose="020B0604020202020204" pitchFamily="34" charset="0"/>
              <a:buChar char="•"/>
            </a:pPr>
            <a:r>
              <a:rPr lang="en-GB" dirty="0"/>
              <a:t>The intraday dashboard allows your employees to access the data in a simplified manner this shows the risk, liquidity and performance of trades and </a:t>
            </a:r>
            <a:r>
              <a:rPr lang="en-GB"/>
              <a:t>potential trade. </a:t>
            </a:r>
            <a:r>
              <a:rPr lang="en-GB" dirty="0"/>
              <a:t>This allows for faster risk decisions, fewer blind spots and a single source of truth across investment teams. Overall increasing smarter and sharper decisions from all teams. </a:t>
            </a:r>
          </a:p>
          <a:p>
            <a:pPr marL="171450" indent="-171450">
              <a:buFont typeface="Arial" panose="020B0604020202020204" pitchFamily="34" charset="0"/>
              <a:buChar char="•"/>
            </a:pPr>
            <a:r>
              <a:rPr lang="en-GB" dirty="0"/>
              <a:t>The Databrick Lakehouse (this is where all different data is stored clean and messy cheaper than having two different systems for organised and unorganised data) is the engine for how quickly the data can be accessed and processed. The Lakehouse can stream: </a:t>
            </a:r>
            <a:r>
              <a:rPr lang="en-GB" dirty="0">
                <a:effectLst/>
              </a:rPr>
              <a:t>Trade events, Cash movements, Market data and any other piece of data you need. Allowing for live operational and risk reviews with minimal operational lag time. </a:t>
            </a:r>
          </a:p>
          <a:p>
            <a:pPr marL="171450" indent="-171450">
              <a:buFont typeface="Arial" panose="020B0604020202020204" pitchFamily="34" charset="0"/>
              <a:buChar char="•"/>
            </a:pPr>
            <a:r>
              <a:rPr lang="en-GB" dirty="0">
                <a:effectLst/>
              </a:rPr>
              <a:t>We do this by what is call the lakeflow instead of the usual overnight ETL, Databricks extracts transforms and loads all of there data into the Lakehouse as soon as they get it.</a:t>
            </a:r>
          </a:p>
          <a:p>
            <a:pPr marL="171450" indent="-171450">
              <a:buFont typeface="Arial" panose="020B0604020202020204" pitchFamily="34" charset="0"/>
              <a:buChar char="•"/>
            </a:pPr>
            <a:r>
              <a:rPr lang="en-GB" dirty="0">
                <a:effectLst/>
              </a:rPr>
              <a:t> As a result of the reduced latency we are able to provide you with time-sensitive capital markets, you are able to set up alerts, automated actions and AI agent with your data before anybody has even checked a report. </a:t>
            </a:r>
          </a:p>
          <a:p>
            <a:pPr marL="171450" indent="-171450">
              <a:buFont typeface="Arial" panose="020B0604020202020204" pitchFamily="34" charset="0"/>
              <a:buChar char="•"/>
            </a:pPr>
            <a:endParaRPr lang="en-GB" dirty="0"/>
          </a:p>
          <a:p>
            <a:pPr marL="171450" indent="-171450">
              <a:buFont typeface="Arial" panose="020B0604020202020204" pitchFamily="34" charset="0"/>
              <a:buChar char="•"/>
            </a:pPr>
            <a:endParaRPr lang="en-GB" dirty="0"/>
          </a:p>
        </p:txBody>
      </p:sp>
      <p:sp>
        <p:nvSpPr>
          <p:cNvPr id="4" name="Slide Number Placeholder 3">
            <a:extLst>
              <a:ext uri="{FF2B5EF4-FFF2-40B4-BE49-F238E27FC236}">
                <a16:creationId xmlns:a16="http://schemas.microsoft.com/office/drawing/2014/main" id="{40E7A1CA-C0F3-98C4-E465-A84555B15110}"/>
              </a:ext>
            </a:extLst>
          </p:cNvPr>
          <p:cNvSpPr>
            <a:spLocks noGrp="1"/>
          </p:cNvSpPr>
          <p:nvPr>
            <p:ph type="sldNum" sz="quarter" idx="5"/>
          </p:nvPr>
        </p:nvSpPr>
        <p:spPr/>
        <p:txBody>
          <a:bodyPr/>
          <a:lstStyle/>
          <a:p>
            <a:fld id="{B7794D5E-7A02-4D85-8396-38B423B53FB0}" type="slidenum">
              <a:rPr lang="en-GB" smtClean="0"/>
              <a:t>3</a:t>
            </a:fld>
            <a:endParaRPr lang="en-GB"/>
          </a:p>
        </p:txBody>
      </p:sp>
    </p:spTree>
    <p:extLst>
      <p:ext uri="{BB962C8B-B14F-4D97-AF65-F5344CB8AC3E}">
        <p14:creationId xmlns:p14="http://schemas.microsoft.com/office/powerpoint/2010/main" val="77913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Having Databricks being a centralised access control across table, files, dashboards and machine learning models causes a consistent policy that governs who can access, edit, run or export different pieces of data. </a:t>
            </a:r>
          </a:p>
          <a:p>
            <a:pPr marL="171450" indent="-171450">
              <a:buFont typeface="Arial" panose="020B0604020202020204" pitchFamily="34" charset="0"/>
              <a:buChar char="•"/>
            </a:pPr>
            <a:r>
              <a:rPr lang="en-GB" dirty="0"/>
              <a:t>Joining Databricks will reduce the following problems of having fragmented access controls: Security risks, Audit friction and operational delays. Security risks are fixed due to consistent permissions across all data, therefor there Is no confusion people can only access the data allowed . Audit friction is solved due to all metrics accessed being located in the Lakehouse therefore being able to trace it all back to a centralised point. And operational delays will be a thing of the past due to the consistent permissions it will provide access if the team is allowed otherwise not therefor, the ad hoc request for data is quick and snappy.</a:t>
            </a:r>
          </a:p>
          <a:p>
            <a:pPr marL="171450" indent="-171450">
              <a:buFont typeface="Arial" panose="020B0604020202020204" pitchFamily="34" charset="0"/>
              <a:buChar char="•"/>
            </a:pPr>
            <a:r>
              <a:rPr lang="en-GB" dirty="0"/>
              <a:t>The automated lineage allow you to have an end-to-end map of how every output was produced, overall, this will reduce the blind spots and provides an instant audit ready for any intraday decision. This allows teams to reliably explain how a number is produced while keeping trust with are systems.</a:t>
            </a:r>
          </a:p>
          <a:p>
            <a:pPr marL="171450" indent="-171450">
              <a:buFont typeface="Arial" panose="020B0604020202020204" pitchFamily="34" charset="0"/>
              <a:buChar char="•"/>
            </a:pPr>
            <a:r>
              <a:rPr lang="en-GB" dirty="0"/>
              <a:t>If you do decide to expand from only using Databricks for ETL then you are able to have all teams using the same centralized dashboard and data storage system. This allows for teams to easily transfer data, notebooks and more safely and efficiently . This can lead to faster product development and controlled access to sensitive information as previously mentioned. Overall due to secure efficient collaboration across teams it will reducing the time for new market reports and models, fewer data leaks and safer automation for intraday liquidity and margin workflows. </a:t>
            </a:r>
          </a:p>
          <a:p>
            <a:pPr marL="171450" indent="-171450">
              <a:buFont typeface="Arial" panose="020B0604020202020204" pitchFamily="34" charset="0"/>
              <a:buChar char="•"/>
            </a:pPr>
            <a:endParaRPr lang="en-GB" dirty="0"/>
          </a:p>
        </p:txBody>
      </p:sp>
      <p:sp>
        <p:nvSpPr>
          <p:cNvPr id="4" name="Slide Number Placeholder 3"/>
          <p:cNvSpPr>
            <a:spLocks noGrp="1"/>
          </p:cNvSpPr>
          <p:nvPr>
            <p:ph type="sldNum" sz="quarter" idx="5"/>
          </p:nvPr>
        </p:nvSpPr>
        <p:spPr/>
        <p:txBody>
          <a:bodyPr/>
          <a:lstStyle/>
          <a:p>
            <a:fld id="{B7794D5E-7A02-4D85-8396-38B423B53FB0}" type="slidenum">
              <a:rPr lang="en-GB" smtClean="0"/>
              <a:t>4</a:t>
            </a:fld>
            <a:endParaRPr lang="en-GB"/>
          </a:p>
        </p:txBody>
      </p:sp>
    </p:spTree>
    <p:extLst>
      <p:ext uri="{BB962C8B-B14F-4D97-AF65-F5344CB8AC3E}">
        <p14:creationId xmlns:p14="http://schemas.microsoft.com/office/powerpoint/2010/main" val="36848412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GB" dirty="0"/>
              <a:t>The declarative pipelines that have been engineered allow engineers from different teams to describe how they want the data workflow to be. This cuts out  a lot of different steps that your engineers would have previously had to do manually. Due to are systems Operational load will reduce therefor the engineering teams can focus on the business logic </a:t>
            </a:r>
          </a:p>
          <a:p>
            <a:pPr marL="171450" indent="-171450">
              <a:buFont typeface="Arial" panose="020B0604020202020204" pitchFamily="34" charset="0"/>
              <a:buChar char="•"/>
            </a:pPr>
            <a:r>
              <a:rPr lang="en-GB" dirty="0"/>
              <a:t>The built-in quality checks allows for all of your data to be able to be transformed into gold standard data this allows for the optimal data for business intelligence, reporting and ML. This allows for more reliable intraday dashboards – cleaner data for risk and performance models – and you are able to have end to end map from how the raw data is transformed by Databricks. </a:t>
            </a:r>
          </a:p>
          <a:p>
            <a:pPr marL="171450" indent="-171450">
              <a:buFont typeface="Arial" panose="020B0604020202020204" pitchFamily="34" charset="0"/>
              <a:buChar char="•"/>
            </a:pPr>
            <a:r>
              <a:rPr lang="en-GB" dirty="0"/>
              <a:t>Are systems supporting both streaming and batch workloads has all the benefits previously mentioned however it will also save money. Due to Databricks using one system there will only be one sever one team and one licence. It also includes Auto-scaling this means there is no spare storage which you are paying for. </a:t>
            </a:r>
          </a:p>
          <a:p>
            <a:pPr marL="171450" indent="-171450">
              <a:buFont typeface="Arial" panose="020B0604020202020204" pitchFamily="34" charset="0"/>
              <a:buChar char="•"/>
            </a:pPr>
            <a:r>
              <a:rPr lang="en-GB" dirty="0"/>
              <a:t>Due to the a lot of the previous reasons such as built in quality checks there is a reduced risk of pipeline failures. This allows for much less time spent on fixing the pipelines. </a:t>
            </a:r>
          </a:p>
          <a:p>
            <a:pPr marL="171450" indent="-171450">
              <a:buFont typeface="Arial" panose="020B0604020202020204" pitchFamily="34" charset="0"/>
              <a:buChar char="•"/>
            </a:pPr>
            <a:endParaRPr lang="en-GB" dirty="0"/>
          </a:p>
          <a:p>
            <a:pPr marL="171450" indent="-171450">
              <a:buFont typeface="Arial" panose="020B0604020202020204" pitchFamily="34" charset="0"/>
              <a:buChar char="•"/>
            </a:pPr>
            <a:endParaRPr lang="en-GB" dirty="0"/>
          </a:p>
        </p:txBody>
      </p:sp>
      <p:sp>
        <p:nvSpPr>
          <p:cNvPr id="4" name="Slide Number Placeholder 3"/>
          <p:cNvSpPr>
            <a:spLocks noGrp="1"/>
          </p:cNvSpPr>
          <p:nvPr>
            <p:ph type="sldNum" sz="quarter" idx="5"/>
          </p:nvPr>
        </p:nvSpPr>
        <p:spPr/>
        <p:txBody>
          <a:bodyPr/>
          <a:lstStyle/>
          <a:p>
            <a:fld id="{B7794D5E-7A02-4D85-8396-38B423B53FB0}" type="slidenum">
              <a:rPr lang="en-GB" smtClean="0"/>
              <a:t>5</a:t>
            </a:fld>
            <a:endParaRPr lang="en-GB"/>
          </a:p>
        </p:txBody>
      </p:sp>
    </p:spTree>
    <p:extLst>
      <p:ext uri="{BB962C8B-B14F-4D97-AF65-F5344CB8AC3E}">
        <p14:creationId xmlns:p14="http://schemas.microsoft.com/office/powerpoint/2010/main" val="363201161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Databricks enabled access to London Stock Exchange Groups' AI‑ready market data via Delta Sharing (how the data is transferred safely and quickly e.g. what has been talked about the whole time), cutting integration friction and accelerating production AI/analytics. </a:t>
            </a:r>
          </a:p>
          <a:p>
            <a:r>
              <a:rPr lang="en-GB" dirty="0"/>
              <a:t>We noticed a problem with how quickly LSEG’s market data was delivered and how it was reducing the time analysis had on modelling which increase the strain to meet deadlines.</a:t>
            </a:r>
          </a:p>
          <a:p>
            <a:r>
              <a:rPr lang="en-GB" dirty="0"/>
              <a:t>This is where we decided to implement different tools such as delta sharing, Agent bricks and having a unified platform for LSEG. The delta sharing secured live access to LSEG datasets. Agent bricks and Our AI allowed for LSEG to produce an AI agent that combined market data with firm data causing rapid workflows to form. </a:t>
            </a:r>
          </a:p>
          <a:p>
            <a:r>
              <a:rPr lang="en-GB" dirty="0"/>
              <a:t>Due to our collaboration LSEG it has helped LSEG by having faster onboarding for analysis to access key data points. It has also helped up help you by reducing the time it take to develop an AI agent. </a:t>
            </a:r>
          </a:p>
          <a:p>
            <a:endParaRPr lang="en-GB" dirty="0"/>
          </a:p>
        </p:txBody>
      </p:sp>
      <p:sp>
        <p:nvSpPr>
          <p:cNvPr id="4" name="Slide Number Placeholder 3"/>
          <p:cNvSpPr>
            <a:spLocks noGrp="1"/>
          </p:cNvSpPr>
          <p:nvPr>
            <p:ph type="sldNum" sz="quarter" idx="5"/>
          </p:nvPr>
        </p:nvSpPr>
        <p:spPr/>
        <p:txBody>
          <a:bodyPr/>
          <a:lstStyle/>
          <a:p>
            <a:fld id="{B7794D5E-7A02-4D85-8396-38B423B53FB0}" type="slidenum">
              <a:rPr lang="en-GB" smtClean="0"/>
              <a:t>6</a:t>
            </a:fld>
            <a:endParaRPr lang="en-GB"/>
          </a:p>
        </p:txBody>
      </p:sp>
    </p:spTree>
    <p:extLst>
      <p:ext uri="{BB962C8B-B14F-4D97-AF65-F5344CB8AC3E}">
        <p14:creationId xmlns:p14="http://schemas.microsoft.com/office/powerpoint/2010/main" val="32286816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Some next steps we I think we should take to help you understand Databricks in more detail are Engage your business stakeholder for a business demo and have a workshop of what today's architecture is vs what we think the future architecture for ICG would be. This would be useful to show you more of the applications that Databricks can do the examples of the dashboard and  systems we use at data bricks. We would also love to invite you and your business stakeholders to our FST forum in May and summit in June.</a:t>
            </a:r>
          </a:p>
        </p:txBody>
      </p:sp>
      <p:sp>
        <p:nvSpPr>
          <p:cNvPr id="4" name="Slide Number Placeholder 3"/>
          <p:cNvSpPr>
            <a:spLocks noGrp="1"/>
          </p:cNvSpPr>
          <p:nvPr>
            <p:ph type="sldNum" sz="quarter" idx="5"/>
          </p:nvPr>
        </p:nvSpPr>
        <p:spPr/>
        <p:txBody>
          <a:bodyPr/>
          <a:lstStyle/>
          <a:p>
            <a:fld id="{B7794D5E-7A02-4D85-8396-38B423B53FB0}" type="slidenum">
              <a:rPr lang="en-GB" smtClean="0"/>
              <a:t>7</a:t>
            </a:fld>
            <a:endParaRPr lang="en-GB"/>
          </a:p>
        </p:txBody>
      </p:sp>
    </p:spTree>
    <p:extLst>
      <p:ext uri="{BB962C8B-B14F-4D97-AF65-F5344CB8AC3E}">
        <p14:creationId xmlns:p14="http://schemas.microsoft.com/office/powerpoint/2010/main" val="243339022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94957-1493-3933-4642-7835C3BD316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p>
        </p:txBody>
      </p:sp>
      <p:sp>
        <p:nvSpPr>
          <p:cNvPr id="3" name="Subtitle 2">
            <a:extLst>
              <a:ext uri="{FF2B5EF4-FFF2-40B4-BE49-F238E27FC236}">
                <a16:creationId xmlns:a16="http://schemas.microsoft.com/office/drawing/2014/main" id="{EC96394F-4DF7-AC81-C747-00C540BA71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p>
        </p:txBody>
      </p:sp>
      <p:sp>
        <p:nvSpPr>
          <p:cNvPr id="4" name="Date Placeholder 3">
            <a:extLst>
              <a:ext uri="{FF2B5EF4-FFF2-40B4-BE49-F238E27FC236}">
                <a16:creationId xmlns:a16="http://schemas.microsoft.com/office/drawing/2014/main" id="{F014BCC4-3507-9956-2BAC-D69A5818141F}"/>
              </a:ext>
            </a:extLst>
          </p:cNvPr>
          <p:cNvSpPr>
            <a:spLocks noGrp="1"/>
          </p:cNvSpPr>
          <p:nvPr>
            <p:ph type="dt" sz="half" idx="10"/>
          </p:nvPr>
        </p:nvSpPr>
        <p:spPr/>
        <p:txBody>
          <a:bodyPr/>
          <a:lstStyle/>
          <a:p>
            <a:fld id="{6FD04EFC-3FC0-47F9-A07C-6242C5418A7D}" type="datetimeFigureOut">
              <a:rPr lang="en-GB" smtClean="0"/>
              <a:t>29/06/2026</a:t>
            </a:fld>
            <a:endParaRPr lang="en-GB"/>
          </a:p>
        </p:txBody>
      </p:sp>
      <p:sp>
        <p:nvSpPr>
          <p:cNvPr id="5" name="Footer Placeholder 4">
            <a:extLst>
              <a:ext uri="{FF2B5EF4-FFF2-40B4-BE49-F238E27FC236}">
                <a16:creationId xmlns:a16="http://schemas.microsoft.com/office/drawing/2014/main" id="{B95D7F08-B309-8240-BBA9-782BC1D3A0E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BE811F6D-C7C3-A663-35E3-934498181174}"/>
              </a:ext>
            </a:extLst>
          </p:cNvPr>
          <p:cNvSpPr>
            <a:spLocks noGrp="1"/>
          </p:cNvSpPr>
          <p:nvPr>
            <p:ph type="sldNum" sz="quarter" idx="12"/>
          </p:nvPr>
        </p:nvSpPr>
        <p:spPr/>
        <p:txBody>
          <a:bodyPr/>
          <a:lstStyle/>
          <a:p>
            <a:fld id="{837896D0-26B4-45B1-92B0-57EF0EFBD3CE}" type="slidenum">
              <a:rPr lang="en-GB" smtClean="0"/>
              <a:t>‹#›</a:t>
            </a:fld>
            <a:endParaRPr lang="en-GB"/>
          </a:p>
        </p:txBody>
      </p:sp>
    </p:spTree>
    <p:extLst>
      <p:ext uri="{BB962C8B-B14F-4D97-AF65-F5344CB8AC3E}">
        <p14:creationId xmlns:p14="http://schemas.microsoft.com/office/powerpoint/2010/main" val="420284901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5AABA-5BBD-4DAF-9D96-2F911BA959CC}"/>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ECECD3F5-4095-9A3E-2E67-352E6D103243}"/>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4AB866B8-12C0-0A26-AB3F-9BBD25B28344}"/>
              </a:ext>
            </a:extLst>
          </p:cNvPr>
          <p:cNvSpPr>
            <a:spLocks noGrp="1"/>
          </p:cNvSpPr>
          <p:nvPr>
            <p:ph type="dt" sz="half" idx="10"/>
          </p:nvPr>
        </p:nvSpPr>
        <p:spPr/>
        <p:txBody>
          <a:bodyPr/>
          <a:lstStyle/>
          <a:p>
            <a:fld id="{6FD04EFC-3FC0-47F9-A07C-6242C5418A7D}" type="datetimeFigureOut">
              <a:rPr lang="en-GB" smtClean="0"/>
              <a:t>29/06/2026</a:t>
            </a:fld>
            <a:endParaRPr lang="en-GB"/>
          </a:p>
        </p:txBody>
      </p:sp>
      <p:sp>
        <p:nvSpPr>
          <p:cNvPr id="5" name="Footer Placeholder 4">
            <a:extLst>
              <a:ext uri="{FF2B5EF4-FFF2-40B4-BE49-F238E27FC236}">
                <a16:creationId xmlns:a16="http://schemas.microsoft.com/office/drawing/2014/main" id="{D9B4114E-F903-316D-45EF-492537A0F14A}"/>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7AC4CC5F-B179-513A-784F-246D71531418}"/>
              </a:ext>
            </a:extLst>
          </p:cNvPr>
          <p:cNvSpPr>
            <a:spLocks noGrp="1"/>
          </p:cNvSpPr>
          <p:nvPr>
            <p:ph type="sldNum" sz="quarter" idx="12"/>
          </p:nvPr>
        </p:nvSpPr>
        <p:spPr/>
        <p:txBody>
          <a:bodyPr/>
          <a:lstStyle/>
          <a:p>
            <a:fld id="{837896D0-26B4-45B1-92B0-57EF0EFBD3CE}" type="slidenum">
              <a:rPr lang="en-GB" smtClean="0"/>
              <a:t>‹#›</a:t>
            </a:fld>
            <a:endParaRPr lang="en-GB"/>
          </a:p>
        </p:txBody>
      </p:sp>
    </p:spTree>
    <p:extLst>
      <p:ext uri="{BB962C8B-B14F-4D97-AF65-F5344CB8AC3E}">
        <p14:creationId xmlns:p14="http://schemas.microsoft.com/office/powerpoint/2010/main" val="3041013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59297A-24F8-A27B-5CBB-7F39086A8DFD}"/>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p>
        </p:txBody>
      </p:sp>
      <p:sp>
        <p:nvSpPr>
          <p:cNvPr id="3" name="Text Placeholder 2">
            <a:extLst>
              <a:ext uri="{FF2B5EF4-FFF2-40B4-BE49-F238E27FC236}">
                <a16:creationId xmlns:a16="http://schemas.microsoft.com/office/drawing/2014/main" id="{6CB43FB1-4835-E009-E336-432D5035A23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B16A0E89-E438-E3ED-CBA7-D660CEDC6333}"/>
              </a:ext>
            </a:extLst>
          </p:cNvPr>
          <p:cNvSpPr>
            <a:spLocks noGrp="1"/>
          </p:cNvSpPr>
          <p:nvPr>
            <p:ph type="dt" sz="half" idx="10"/>
          </p:nvPr>
        </p:nvSpPr>
        <p:spPr/>
        <p:txBody>
          <a:bodyPr/>
          <a:lstStyle/>
          <a:p>
            <a:fld id="{6FD04EFC-3FC0-47F9-A07C-6242C5418A7D}" type="datetimeFigureOut">
              <a:rPr lang="en-GB" smtClean="0"/>
              <a:t>29/06/2026</a:t>
            </a:fld>
            <a:endParaRPr lang="en-GB"/>
          </a:p>
        </p:txBody>
      </p:sp>
      <p:sp>
        <p:nvSpPr>
          <p:cNvPr id="5" name="Footer Placeholder 4">
            <a:extLst>
              <a:ext uri="{FF2B5EF4-FFF2-40B4-BE49-F238E27FC236}">
                <a16:creationId xmlns:a16="http://schemas.microsoft.com/office/drawing/2014/main" id="{7E36B954-CF28-BEA7-15D3-AACC8A47EDEC}"/>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C16A061-68A9-1B0C-C552-989F384C4091}"/>
              </a:ext>
            </a:extLst>
          </p:cNvPr>
          <p:cNvSpPr>
            <a:spLocks noGrp="1"/>
          </p:cNvSpPr>
          <p:nvPr>
            <p:ph type="sldNum" sz="quarter" idx="12"/>
          </p:nvPr>
        </p:nvSpPr>
        <p:spPr/>
        <p:txBody>
          <a:bodyPr/>
          <a:lstStyle/>
          <a:p>
            <a:fld id="{837896D0-26B4-45B1-92B0-57EF0EFBD3CE}" type="slidenum">
              <a:rPr lang="en-GB" smtClean="0"/>
              <a:t>‹#›</a:t>
            </a:fld>
            <a:endParaRPr lang="en-GB"/>
          </a:p>
        </p:txBody>
      </p:sp>
    </p:spTree>
    <p:extLst>
      <p:ext uri="{BB962C8B-B14F-4D97-AF65-F5344CB8AC3E}">
        <p14:creationId xmlns:p14="http://schemas.microsoft.com/office/powerpoint/2010/main" val="163282674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8A7CC-C61C-978D-A61C-E9BBFA58F382}"/>
              </a:ext>
            </a:extLst>
          </p:cNvPr>
          <p:cNvSpPr>
            <a:spLocks noGrp="1"/>
          </p:cNvSpPr>
          <p:nvPr>
            <p:ph type="title"/>
          </p:nvPr>
        </p:nvSpPr>
        <p:spPr/>
        <p:txBody>
          <a:bodyPr/>
          <a:lstStyle/>
          <a:p>
            <a:r>
              <a:rPr lang="en-GB"/>
              <a:t>Click to edit Master title style</a:t>
            </a:r>
          </a:p>
        </p:txBody>
      </p:sp>
      <p:sp>
        <p:nvSpPr>
          <p:cNvPr id="3" name="Content Placeholder 2">
            <a:extLst>
              <a:ext uri="{FF2B5EF4-FFF2-40B4-BE49-F238E27FC236}">
                <a16:creationId xmlns:a16="http://schemas.microsoft.com/office/drawing/2014/main" id="{F7642C23-7D12-240D-6D4A-0C8DADC01A1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Content Placeholder 3">
            <a:extLst>
              <a:ext uri="{FF2B5EF4-FFF2-40B4-BE49-F238E27FC236}">
                <a16:creationId xmlns:a16="http://schemas.microsoft.com/office/drawing/2014/main" id="{3441AB70-8D9A-D0E3-CDC8-396DA312A959}"/>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Date Placeholder 4">
            <a:extLst>
              <a:ext uri="{FF2B5EF4-FFF2-40B4-BE49-F238E27FC236}">
                <a16:creationId xmlns:a16="http://schemas.microsoft.com/office/drawing/2014/main" id="{9C13E81F-578C-6A98-9F44-3AE68C4C4A5E}"/>
              </a:ext>
            </a:extLst>
          </p:cNvPr>
          <p:cNvSpPr>
            <a:spLocks noGrp="1"/>
          </p:cNvSpPr>
          <p:nvPr>
            <p:ph type="dt" sz="half" idx="10"/>
          </p:nvPr>
        </p:nvSpPr>
        <p:spPr/>
        <p:txBody>
          <a:bodyPr/>
          <a:lstStyle/>
          <a:p>
            <a:fld id="{6FD04EFC-3FC0-47F9-A07C-6242C5418A7D}" type="datetimeFigureOut">
              <a:rPr lang="en-GB" smtClean="0"/>
              <a:t>29/06/2026</a:t>
            </a:fld>
            <a:endParaRPr lang="en-GB"/>
          </a:p>
        </p:txBody>
      </p:sp>
      <p:sp>
        <p:nvSpPr>
          <p:cNvPr id="6" name="Footer Placeholder 5">
            <a:extLst>
              <a:ext uri="{FF2B5EF4-FFF2-40B4-BE49-F238E27FC236}">
                <a16:creationId xmlns:a16="http://schemas.microsoft.com/office/drawing/2014/main" id="{E0BCB7F5-A4B8-AB08-E954-872C5F835535}"/>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D851324F-A37E-9E57-DC81-45E399F3DE86}"/>
              </a:ext>
            </a:extLst>
          </p:cNvPr>
          <p:cNvSpPr>
            <a:spLocks noGrp="1"/>
          </p:cNvSpPr>
          <p:nvPr>
            <p:ph type="sldNum" sz="quarter" idx="12"/>
          </p:nvPr>
        </p:nvSpPr>
        <p:spPr/>
        <p:txBody>
          <a:bodyPr/>
          <a:lstStyle/>
          <a:p>
            <a:fld id="{837896D0-26B4-45B1-92B0-57EF0EFBD3CE}" type="slidenum">
              <a:rPr lang="en-GB" smtClean="0"/>
              <a:t>‹#›</a:t>
            </a:fld>
            <a:endParaRPr lang="en-GB"/>
          </a:p>
        </p:txBody>
      </p:sp>
    </p:spTree>
    <p:extLst>
      <p:ext uri="{BB962C8B-B14F-4D97-AF65-F5344CB8AC3E}">
        <p14:creationId xmlns:p14="http://schemas.microsoft.com/office/powerpoint/2010/main" val="42641846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2C049C-858C-3310-5B87-55DD91B64941}"/>
              </a:ext>
            </a:extLst>
          </p:cNvPr>
          <p:cNvSpPr>
            <a:spLocks noGrp="1"/>
          </p:cNvSpPr>
          <p:nvPr>
            <p:ph type="title"/>
          </p:nvPr>
        </p:nvSpPr>
        <p:spPr>
          <a:xfrm>
            <a:off x="839788" y="365125"/>
            <a:ext cx="10515600" cy="1325563"/>
          </a:xfrm>
        </p:spPr>
        <p:txBody>
          <a:bodyPr/>
          <a:lstStyle/>
          <a:p>
            <a:r>
              <a:rPr lang="en-GB"/>
              <a:t>Click to edit Master title style</a:t>
            </a:r>
          </a:p>
        </p:txBody>
      </p:sp>
      <p:sp>
        <p:nvSpPr>
          <p:cNvPr id="3" name="Text Placeholder 2">
            <a:extLst>
              <a:ext uri="{FF2B5EF4-FFF2-40B4-BE49-F238E27FC236}">
                <a16:creationId xmlns:a16="http://schemas.microsoft.com/office/drawing/2014/main" id="{A225BC15-EAD9-2AD1-7538-5198C485077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84666954-BE6E-DD6A-4A03-43CF1DA9043F}"/>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5" name="Text Placeholder 4">
            <a:extLst>
              <a:ext uri="{FF2B5EF4-FFF2-40B4-BE49-F238E27FC236}">
                <a16:creationId xmlns:a16="http://schemas.microsoft.com/office/drawing/2014/main" id="{878697C7-B182-BE8E-9013-515AF8B3D64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D059EA77-FF50-8E4B-9DB5-ECB6A414967C}"/>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7" name="Date Placeholder 6">
            <a:extLst>
              <a:ext uri="{FF2B5EF4-FFF2-40B4-BE49-F238E27FC236}">
                <a16:creationId xmlns:a16="http://schemas.microsoft.com/office/drawing/2014/main" id="{A0EC88C6-15A4-7EBE-7BB7-41C59B27342D}"/>
              </a:ext>
            </a:extLst>
          </p:cNvPr>
          <p:cNvSpPr>
            <a:spLocks noGrp="1"/>
          </p:cNvSpPr>
          <p:nvPr>
            <p:ph type="dt" sz="half" idx="10"/>
          </p:nvPr>
        </p:nvSpPr>
        <p:spPr/>
        <p:txBody>
          <a:bodyPr/>
          <a:lstStyle/>
          <a:p>
            <a:fld id="{6FD04EFC-3FC0-47F9-A07C-6242C5418A7D}" type="datetimeFigureOut">
              <a:rPr lang="en-GB" smtClean="0"/>
              <a:t>29/06/2026</a:t>
            </a:fld>
            <a:endParaRPr lang="en-GB"/>
          </a:p>
        </p:txBody>
      </p:sp>
      <p:sp>
        <p:nvSpPr>
          <p:cNvPr id="8" name="Footer Placeholder 7">
            <a:extLst>
              <a:ext uri="{FF2B5EF4-FFF2-40B4-BE49-F238E27FC236}">
                <a16:creationId xmlns:a16="http://schemas.microsoft.com/office/drawing/2014/main" id="{8BE335F0-DA55-55A1-ADAE-E1101A510C4A}"/>
              </a:ext>
            </a:extLst>
          </p:cNvPr>
          <p:cNvSpPr>
            <a:spLocks noGrp="1"/>
          </p:cNvSpPr>
          <p:nvPr>
            <p:ph type="ftr" sz="quarter" idx="11"/>
          </p:nvPr>
        </p:nvSpPr>
        <p:spPr/>
        <p:txBody>
          <a:bodyPr/>
          <a:lstStyle/>
          <a:p>
            <a:endParaRPr lang="en-GB"/>
          </a:p>
        </p:txBody>
      </p:sp>
      <p:sp>
        <p:nvSpPr>
          <p:cNvPr id="9" name="Slide Number Placeholder 8">
            <a:extLst>
              <a:ext uri="{FF2B5EF4-FFF2-40B4-BE49-F238E27FC236}">
                <a16:creationId xmlns:a16="http://schemas.microsoft.com/office/drawing/2014/main" id="{A907CD89-DA5B-D34F-4F0D-357AB776E202}"/>
              </a:ext>
            </a:extLst>
          </p:cNvPr>
          <p:cNvSpPr>
            <a:spLocks noGrp="1"/>
          </p:cNvSpPr>
          <p:nvPr>
            <p:ph type="sldNum" sz="quarter" idx="12"/>
          </p:nvPr>
        </p:nvSpPr>
        <p:spPr/>
        <p:txBody>
          <a:bodyPr/>
          <a:lstStyle/>
          <a:p>
            <a:fld id="{837896D0-26B4-45B1-92B0-57EF0EFBD3CE}" type="slidenum">
              <a:rPr lang="en-GB" smtClean="0"/>
              <a:t>‹#›</a:t>
            </a:fld>
            <a:endParaRPr lang="en-GB"/>
          </a:p>
        </p:txBody>
      </p:sp>
    </p:spTree>
    <p:extLst>
      <p:ext uri="{BB962C8B-B14F-4D97-AF65-F5344CB8AC3E}">
        <p14:creationId xmlns:p14="http://schemas.microsoft.com/office/powerpoint/2010/main" val="5525706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028AA-7E08-C25B-C9CC-F2CEF5306013}"/>
              </a:ext>
            </a:extLst>
          </p:cNvPr>
          <p:cNvSpPr>
            <a:spLocks noGrp="1"/>
          </p:cNvSpPr>
          <p:nvPr>
            <p:ph type="title"/>
          </p:nvPr>
        </p:nvSpPr>
        <p:spPr/>
        <p:txBody>
          <a:bodyPr/>
          <a:lstStyle/>
          <a:p>
            <a:r>
              <a:rPr lang="en-GB"/>
              <a:t>Click to edit Master title style</a:t>
            </a:r>
          </a:p>
        </p:txBody>
      </p:sp>
      <p:sp>
        <p:nvSpPr>
          <p:cNvPr id="3" name="Date Placeholder 2">
            <a:extLst>
              <a:ext uri="{FF2B5EF4-FFF2-40B4-BE49-F238E27FC236}">
                <a16:creationId xmlns:a16="http://schemas.microsoft.com/office/drawing/2014/main" id="{A8C652F1-67C3-828C-30A3-E21FDBD0F578}"/>
              </a:ext>
            </a:extLst>
          </p:cNvPr>
          <p:cNvSpPr>
            <a:spLocks noGrp="1"/>
          </p:cNvSpPr>
          <p:nvPr>
            <p:ph type="dt" sz="half" idx="10"/>
          </p:nvPr>
        </p:nvSpPr>
        <p:spPr/>
        <p:txBody>
          <a:bodyPr/>
          <a:lstStyle/>
          <a:p>
            <a:fld id="{6FD04EFC-3FC0-47F9-A07C-6242C5418A7D}" type="datetimeFigureOut">
              <a:rPr lang="en-GB" smtClean="0"/>
              <a:t>29/06/2026</a:t>
            </a:fld>
            <a:endParaRPr lang="en-GB"/>
          </a:p>
        </p:txBody>
      </p:sp>
      <p:sp>
        <p:nvSpPr>
          <p:cNvPr id="4" name="Footer Placeholder 3">
            <a:extLst>
              <a:ext uri="{FF2B5EF4-FFF2-40B4-BE49-F238E27FC236}">
                <a16:creationId xmlns:a16="http://schemas.microsoft.com/office/drawing/2014/main" id="{70968E99-FDD1-C94D-818A-A4E9A661FE1C}"/>
              </a:ext>
            </a:extLst>
          </p:cNvPr>
          <p:cNvSpPr>
            <a:spLocks noGrp="1"/>
          </p:cNvSpPr>
          <p:nvPr>
            <p:ph type="ftr" sz="quarter" idx="11"/>
          </p:nvPr>
        </p:nvSpPr>
        <p:spPr/>
        <p:txBody>
          <a:bodyPr/>
          <a:lstStyle/>
          <a:p>
            <a:endParaRPr lang="en-GB"/>
          </a:p>
        </p:txBody>
      </p:sp>
      <p:sp>
        <p:nvSpPr>
          <p:cNvPr id="5" name="Slide Number Placeholder 4">
            <a:extLst>
              <a:ext uri="{FF2B5EF4-FFF2-40B4-BE49-F238E27FC236}">
                <a16:creationId xmlns:a16="http://schemas.microsoft.com/office/drawing/2014/main" id="{27CEAE35-A5BB-044B-C27A-2102B93B5278}"/>
              </a:ext>
            </a:extLst>
          </p:cNvPr>
          <p:cNvSpPr>
            <a:spLocks noGrp="1"/>
          </p:cNvSpPr>
          <p:nvPr>
            <p:ph type="sldNum" sz="quarter" idx="12"/>
          </p:nvPr>
        </p:nvSpPr>
        <p:spPr/>
        <p:txBody>
          <a:bodyPr/>
          <a:lstStyle/>
          <a:p>
            <a:fld id="{837896D0-26B4-45B1-92B0-57EF0EFBD3CE}" type="slidenum">
              <a:rPr lang="en-GB" smtClean="0"/>
              <a:t>‹#›</a:t>
            </a:fld>
            <a:endParaRPr lang="en-GB"/>
          </a:p>
        </p:txBody>
      </p:sp>
    </p:spTree>
    <p:extLst>
      <p:ext uri="{BB962C8B-B14F-4D97-AF65-F5344CB8AC3E}">
        <p14:creationId xmlns:p14="http://schemas.microsoft.com/office/powerpoint/2010/main" val="38483965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240AC20-784D-0B0F-F0E3-6B082031195A}"/>
              </a:ext>
            </a:extLst>
          </p:cNvPr>
          <p:cNvSpPr>
            <a:spLocks noGrp="1"/>
          </p:cNvSpPr>
          <p:nvPr>
            <p:ph type="dt" sz="half" idx="10"/>
          </p:nvPr>
        </p:nvSpPr>
        <p:spPr/>
        <p:txBody>
          <a:bodyPr/>
          <a:lstStyle/>
          <a:p>
            <a:fld id="{6FD04EFC-3FC0-47F9-A07C-6242C5418A7D}" type="datetimeFigureOut">
              <a:rPr lang="en-GB" smtClean="0"/>
              <a:t>29/06/2026</a:t>
            </a:fld>
            <a:endParaRPr lang="en-GB"/>
          </a:p>
        </p:txBody>
      </p:sp>
      <p:sp>
        <p:nvSpPr>
          <p:cNvPr id="3" name="Footer Placeholder 2">
            <a:extLst>
              <a:ext uri="{FF2B5EF4-FFF2-40B4-BE49-F238E27FC236}">
                <a16:creationId xmlns:a16="http://schemas.microsoft.com/office/drawing/2014/main" id="{F10B1277-7AD3-A321-787D-D26150846293}"/>
              </a:ext>
            </a:extLst>
          </p:cNvPr>
          <p:cNvSpPr>
            <a:spLocks noGrp="1"/>
          </p:cNvSpPr>
          <p:nvPr>
            <p:ph type="ftr" sz="quarter" idx="11"/>
          </p:nvPr>
        </p:nvSpPr>
        <p:spPr/>
        <p:txBody>
          <a:bodyPr/>
          <a:lstStyle/>
          <a:p>
            <a:endParaRPr lang="en-GB"/>
          </a:p>
        </p:txBody>
      </p:sp>
      <p:sp>
        <p:nvSpPr>
          <p:cNvPr id="4" name="Slide Number Placeholder 3">
            <a:extLst>
              <a:ext uri="{FF2B5EF4-FFF2-40B4-BE49-F238E27FC236}">
                <a16:creationId xmlns:a16="http://schemas.microsoft.com/office/drawing/2014/main" id="{11957B2D-96C8-427E-187C-3256B0A86006}"/>
              </a:ext>
            </a:extLst>
          </p:cNvPr>
          <p:cNvSpPr>
            <a:spLocks noGrp="1"/>
          </p:cNvSpPr>
          <p:nvPr>
            <p:ph type="sldNum" sz="quarter" idx="12"/>
          </p:nvPr>
        </p:nvSpPr>
        <p:spPr/>
        <p:txBody>
          <a:bodyPr/>
          <a:lstStyle/>
          <a:p>
            <a:fld id="{837896D0-26B4-45B1-92B0-57EF0EFBD3CE}" type="slidenum">
              <a:rPr lang="en-GB" smtClean="0"/>
              <a:t>‹#›</a:t>
            </a:fld>
            <a:endParaRPr lang="en-GB"/>
          </a:p>
        </p:txBody>
      </p:sp>
    </p:spTree>
    <p:extLst>
      <p:ext uri="{BB962C8B-B14F-4D97-AF65-F5344CB8AC3E}">
        <p14:creationId xmlns:p14="http://schemas.microsoft.com/office/powerpoint/2010/main" val="1478023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62FE5D-0221-7FED-3FF5-51D4874BBA01}"/>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Content Placeholder 2">
            <a:extLst>
              <a:ext uri="{FF2B5EF4-FFF2-40B4-BE49-F238E27FC236}">
                <a16:creationId xmlns:a16="http://schemas.microsoft.com/office/drawing/2014/main" id="{1F76307A-4B28-B950-B6DF-B599BE9B78E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Text Placeholder 3">
            <a:extLst>
              <a:ext uri="{FF2B5EF4-FFF2-40B4-BE49-F238E27FC236}">
                <a16:creationId xmlns:a16="http://schemas.microsoft.com/office/drawing/2014/main" id="{D22A3E4A-0AFF-E87E-310C-621FE00760A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E6F2890-EC92-11BC-0A03-BD894EDDC822}"/>
              </a:ext>
            </a:extLst>
          </p:cNvPr>
          <p:cNvSpPr>
            <a:spLocks noGrp="1"/>
          </p:cNvSpPr>
          <p:nvPr>
            <p:ph type="dt" sz="half" idx="10"/>
          </p:nvPr>
        </p:nvSpPr>
        <p:spPr/>
        <p:txBody>
          <a:bodyPr/>
          <a:lstStyle/>
          <a:p>
            <a:fld id="{6FD04EFC-3FC0-47F9-A07C-6242C5418A7D}" type="datetimeFigureOut">
              <a:rPr lang="en-GB" smtClean="0"/>
              <a:t>29/06/2026</a:t>
            </a:fld>
            <a:endParaRPr lang="en-GB"/>
          </a:p>
        </p:txBody>
      </p:sp>
      <p:sp>
        <p:nvSpPr>
          <p:cNvPr id="6" name="Footer Placeholder 5">
            <a:extLst>
              <a:ext uri="{FF2B5EF4-FFF2-40B4-BE49-F238E27FC236}">
                <a16:creationId xmlns:a16="http://schemas.microsoft.com/office/drawing/2014/main" id="{C58BDE50-F4AC-11A8-88E4-19F9C8CA41AB}"/>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4997D88D-21F4-6CD5-44C6-D68F0C6FFC8E}"/>
              </a:ext>
            </a:extLst>
          </p:cNvPr>
          <p:cNvSpPr>
            <a:spLocks noGrp="1"/>
          </p:cNvSpPr>
          <p:nvPr>
            <p:ph type="sldNum" sz="quarter" idx="12"/>
          </p:nvPr>
        </p:nvSpPr>
        <p:spPr/>
        <p:txBody>
          <a:bodyPr/>
          <a:lstStyle/>
          <a:p>
            <a:fld id="{837896D0-26B4-45B1-92B0-57EF0EFBD3CE}" type="slidenum">
              <a:rPr lang="en-GB" smtClean="0"/>
              <a:t>‹#›</a:t>
            </a:fld>
            <a:endParaRPr lang="en-GB"/>
          </a:p>
        </p:txBody>
      </p:sp>
    </p:spTree>
    <p:extLst>
      <p:ext uri="{BB962C8B-B14F-4D97-AF65-F5344CB8AC3E}">
        <p14:creationId xmlns:p14="http://schemas.microsoft.com/office/powerpoint/2010/main" val="28495901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0C333-52C7-1BD8-7B12-7F2C58CED72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p>
        </p:txBody>
      </p:sp>
      <p:sp>
        <p:nvSpPr>
          <p:cNvPr id="3" name="Picture Placeholder 2">
            <a:extLst>
              <a:ext uri="{FF2B5EF4-FFF2-40B4-BE49-F238E27FC236}">
                <a16:creationId xmlns:a16="http://schemas.microsoft.com/office/drawing/2014/main" id="{B6D851DF-2582-CCE2-AD04-E97EBF3133D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a:extLst>
              <a:ext uri="{FF2B5EF4-FFF2-40B4-BE49-F238E27FC236}">
                <a16:creationId xmlns:a16="http://schemas.microsoft.com/office/drawing/2014/main" id="{87EB4084-2281-0571-9A2E-0872BE6591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618CA0BE-AB19-6F66-3112-2623135B425B}"/>
              </a:ext>
            </a:extLst>
          </p:cNvPr>
          <p:cNvSpPr>
            <a:spLocks noGrp="1"/>
          </p:cNvSpPr>
          <p:nvPr>
            <p:ph type="dt" sz="half" idx="10"/>
          </p:nvPr>
        </p:nvSpPr>
        <p:spPr/>
        <p:txBody>
          <a:bodyPr/>
          <a:lstStyle/>
          <a:p>
            <a:fld id="{6FD04EFC-3FC0-47F9-A07C-6242C5418A7D}" type="datetimeFigureOut">
              <a:rPr lang="en-GB" smtClean="0"/>
              <a:t>29/06/2026</a:t>
            </a:fld>
            <a:endParaRPr lang="en-GB"/>
          </a:p>
        </p:txBody>
      </p:sp>
      <p:sp>
        <p:nvSpPr>
          <p:cNvPr id="6" name="Footer Placeholder 5">
            <a:extLst>
              <a:ext uri="{FF2B5EF4-FFF2-40B4-BE49-F238E27FC236}">
                <a16:creationId xmlns:a16="http://schemas.microsoft.com/office/drawing/2014/main" id="{F53A5397-BB92-67F3-2176-E13EB7306D5A}"/>
              </a:ext>
            </a:extLst>
          </p:cNvPr>
          <p:cNvSpPr>
            <a:spLocks noGrp="1"/>
          </p:cNvSpPr>
          <p:nvPr>
            <p:ph type="ftr" sz="quarter" idx="11"/>
          </p:nvPr>
        </p:nvSpPr>
        <p:spPr/>
        <p:txBody>
          <a:bodyPr/>
          <a:lstStyle/>
          <a:p>
            <a:endParaRPr lang="en-GB"/>
          </a:p>
        </p:txBody>
      </p:sp>
      <p:sp>
        <p:nvSpPr>
          <p:cNvPr id="7" name="Slide Number Placeholder 6">
            <a:extLst>
              <a:ext uri="{FF2B5EF4-FFF2-40B4-BE49-F238E27FC236}">
                <a16:creationId xmlns:a16="http://schemas.microsoft.com/office/drawing/2014/main" id="{E420D25D-12C7-1FEA-AE5F-01C5B93C29C0}"/>
              </a:ext>
            </a:extLst>
          </p:cNvPr>
          <p:cNvSpPr>
            <a:spLocks noGrp="1"/>
          </p:cNvSpPr>
          <p:nvPr>
            <p:ph type="sldNum" sz="quarter" idx="12"/>
          </p:nvPr>
        </p:nvSpPr>
        <p:spPr/>
        <p:txBody>
          <a:bodyPr/>
          <a:lstStyle/>
          <a:p>
            <a:fld id="{837896D0-26B4-45B1-92B0-57EF0EFBD3CE}" type="slidenum">
              <a:rPr lang="en-GB" smtClean="0"/>
              <a:t>‹#›</a:t>
            </a:fld>
            <a:endParaRPr lang="en-GB"/>
          </a:p>
        </p:txBody>
      </p:sp>
    </p:spTree>
    <p:extLst>
      <p:ext uri="{BB962C8B-B14F-4D97-AF65-F5344CB8AC3E}">
        <p14:creationId xmlns:p14="http://schemas.microsoft.com/office/powerpoint/2010/main" val="28102189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CBCFE5-9C63-24C9-9FE0-04D7B1D3C5B0}"/>
              </a:ext>
            </a:extLst>
          </p:cNvPr>
          <p:cNvSpPr>
            <a:spLocks noGrp="1"/>
          </p:cNvSpPr>
          <p:nvPr>
            <p:ph type="title"/>
          </p:nvPr>
        </p:nvSpPr>
        <p:spPr/>
        <p:txBody>
          <a:bodyPr/>
          <a:lstStyle/>
          <a:p>
            <a:r>
              <a:rPr lang="en-GB"/>
              <a:t>Click to edit Master title style</a:t>
            </a:r>
          </a:p>
        </p:txBody>
      </p:sp>
      <p:sp>
        <p:nvSpPr>
          <p:cNvPr id="3" name="Vertical Text Placeholder 2">
            <a:extLst>
              <a:ext uri="{FF2B5EF4-FFF2-40B4-BE49-F238E27FC236}">
                <a16:creationId xmlns:a16="http://schemas.microsoft.com/office/drawing/2014/main" id="{D6B83147-7DD1-B89D-A2A3-78FF21812586}"/>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34F11971-09FB-10DD-4BDF-A986FEF3EAE9}"/>
              </a:ext>
            </a:extLst>
          </p:cNvPr>
          <p:cNvSpPr>
            <a:spLocks noGrp="1"/>
          </p:cNvSpPr>
          <p:nvPr>
            <p:ph type="dt" sz="half" idx="10"/>
          </p:nvPr>
        </p:nvSpPr>
        <p:spPr/>
        <p:txBody>
          <a:bodyPr/>
          <a:lstStyle/>
          <a:p>
            <a:fld id="{6FD04EFC-3FC0-47F9-A07C-6242C5418A7D}" type="datetimeFigureOut">
              <a:rPr lang="en-GB" smtClean="0"/>
              <a:t>29/06/2026</a:t>
            </a:fld>
            <a:endParaRPr lang="en-GB"/>
          </a:p>
        </p:txBody>
      </p:sp>
      <p:sp>
        <p:nvSpPr>
          <p:cNvPr id="5" name="Footer Placeholder 4">
            <a:extLst>
              <a:ext uri="{FF2B5EF4-FFF2-40B4-BE49-F238E27FC236}">
                <a16:creationId xmlns:a16="http://schemas.microsoft.com/office/drawing/2014/main" id="{16BB81B0-D429-4AE4-9DBA-F7B33D072CC3}"/>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22DAF41C-9C6E-CB7A-051D-41EA6E28E218}"/>
              </a:ext>
            </a:extLst>
          </p:cNvPr>
          <p:cNvSpPr>
            <a:spLocks noGrp="1"/>
          </p:cNvSpPr>
          <p:nvPr>
            <p:ph type="sldNum" sz="quarter" idx="12"/>
          </p:nvPr>
        </p:nvSpPr>
        <p:spPr/>
        <p:txBody>
          <a:bodyPr/>
          <a:lstStyle/>
          <a:p>
            <a:fld id="{837896D0-26B4-45B1-92B0-57EF0EFBD3CE}" type="slidenum">
              <a:rPr lang="en-GB" smtClean="0"/>
              <a:t>‹#›</a:t>
            </a:fld>
            <a:endParaRPr lang="en-GB"/>
          </a:p>
        </p:txBody>
      </p:sp>
    </p:spTree>
    <p:extLst>
      <p:ext uri="{BB962C8B-B14F-4D97-AF65-F5344CB8AC3E}">
        <p14:creationId xmlns:p14="http://schemas.microsoft.com/office/powerpoint/2010/main" val="23394463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0150190-2490-CC8F-3182-8580EEA6CDC6}"/>
              </a:ext>
            </a:extLst>
          </p:cNvPr>
          <p:cNvSpPr>
            <a:spLocks noGrp="1"/>
          </p:cNvSpPr>
          <p:nvPr>
            <p:ph type="title" orient="vert"/>
          </p:nvPr>
        </p:nvSpPr>
        <p:spPr>
          <a:xfrm>
            <a:off x="8724900" y="365125"/>
            <a:ext cx="2628900" cy="5811838"/>
          </a:xfrm>
        </p:spPr>
        <p:txBody>
          <a:bodyPr vert="eaVert"/>
          <a:lstStyle/>
          <a:p>
            <a:r>
              <a:rPr lang="en-GB"/>
              <a:t>Click to edit Master title style</a:t>
            </a:r>
          </a:p>
        </p:txBody>
      </p:sp>
      <p:sp>
        <p:nvSpPr>
          <p:cNvPr id="3" name="Vertical Text Placeholder 2">
            <a:extLst>
              <a:ext uri="{FF2B5EF4-FFF2-40B4-BE49-F238E27FC236}">
                <a16:creationId xmlns:a16="http://schemas.microsoft.com/office/drawing/2014/main" id="{6DBD9863-B5F7-81B6-8489-248ECEC0EE0B}"/>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C25A7869-3E72-83DA-D6DE-11B3A1043142}"/>
              </a:ext>
            </a:extLst>
          </p:cNvPr>
          <p:cNvSpPr>
            <a:spLocks noGrp="1"/>
          </p:cNvSpPr>
          <p:nvPr>
            <p:ph type="dt" sz="half" idx="10"/>
          </p:nvPr>
        </p:nvSpPr>
        <p:spPr/>
        <p:txBody>
          <a:bodyPr/>
          <a:lstStyle/>
          <a:p>
            <a:fld id="{6FD04EFC-3FC0-47F9-A07C-6242C5418A7D}" type="datetimeFigureOut">
              <a:rPr lang="en-GB" smtClean="0"/>
              <a:t>29/06/2026</a:t>
            </a:fld>
            <a:endParaRPr lang="en-GB"/>
          </a:p>
        </p:txBody>
      </p:sp>
      <p:sp>
        <p:nvSpPr>
          <p:cNvPr id="5" name="Footer Placeholder 4">
            <a:extLst>
              <a:ext uri="{FF2B5EF4-FFF2-40B4-BE49-F238E27FC236}">
                <a16:creationId xmlns:a16="http://schemas.microsoft.com/office/drawing/2014/main" id="{20C608B7-DD6E-0B25-5D35-FFFDF8CEE154}"/>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6C51A094-F30E-BD75-34C7-C80A4261DB53}"/>
              </a:ext>
            </a:extLst>
          </p:cNvPr>
          <p:cNvSpPr>
            <a:spLocks noGrp="1"/>
          </p:cNvSpPr>
          <p:nvPr>
            <p:ph type="sldNum" sz="quarter" idx="12"/>
          </p:nvPr>
        </p:nvSpPr>
        <p:spPr/>
        <p:txBody>
          <a:bodyPr/>
          <a:lstStyle/>
          <a:p>
            <a:fld id="{837896D0-26B4-45B1-92B0-57EF0EFBD3CE}" type="slidenum">
              <a:rPr lang="en-GB" smtClean="0"/>
              <a:t>‹#›</a:t>
            </a:fld>
            <a:endParaRPr lang="en-GB"/>
          </a:p>
        </p:txBody>
      </p:sp>
    </p:spTree>
    <p:extLst>
      <p:ext uri="{BB962C8B-B14F-4D97-AF65-F5344CB8AC3E}">
        <p14:creationId xmlns:p14="http://schemas.microsoft.com/office/powerpoint/2010/main" val="31280505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B59ABE5-EE5E-F3F6-91C0-0EA56B13CD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p>
        </p:txBody>
      </p:sp>
      <p:sp>
        <p:nvSpPr>
          <p:cNvPr id="3" name="Text Placeholder 2">
            <a:extLst>
              <a:ext uri="{FF2B5EF4-FFF2-40B4-BE49-F238E27FC236}">
                <a16:creationId xmlns:a16="http://schemas.microsoft.com/office/drawing/2014/main" id="{93541E34-493C-F9A8-86F7-F239DF4AD36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4" name="Date Placeholder 3">
            <a:extLst>
              <a:ext uri="{FF2B5EF4-FFF2-40B4-BE49-F238E27FC236}">
                <a16:creationId xmlns:a16="http://schemas.microsoft.com/office/drawing/2014/main" id="{87DD2044-1613-DFCC-F249-980B6CDC8E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FD04EFC-3FC0-47F9-A07C-6242C5418A7D}" type="datetimeFigureOut">
              <a:rPr lang="en-GB" smtClean="0"/>
              <a:t>29/06/2026</a:t>
            </a:fld>
            <a:endParaRPr lang="en-GB"/>
          </a:p>
        </p:txBody>
      </p:sp>
      <p:sp>
        <p:nvSpPr>
          <p:cNvPr id="5" name="Footer Placeholder 4">
            <a:extLst>
              <a:ext uri="{FF2B5EF4-FFF2-40B4-BE49-F238E27FC236}">
                <a16:creationId xmlns:a16="http://schemas.microsoft.com/office/drawing/2014/main" id="{6B02406B-9396-EC48-60CC-DD72EB8B3B5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GB"/>
          </a:p>
        </p:txBody>
      </p:sp>
      <p:sp>
        <p:nvSpPr>
          <p:cNvPr id="6" name="Slide Number Placeholder 5">
            <a:extLst>
              <a:ext uri="{FF2B5EF4-FFF2-40B4-BE49-F238E27FC236}">
                <a16:creationId xmlns:a16="http://schemas.microsoft.com/office/drawing/2014/main" id="{2B34A3F4-FFFF-6A68-3316-C7F495034C7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37896D0-26B4-45B1-92B0-57EF0EFBD3CE}" type="slidenum">
              <a:rPr lang="en-GB" smtClean="0"/>
              <a:t>‹#›</a:t>
            </a:fld>
            <a:endParaRPr lang="en-GB"/>
          </a:p>
        </p:txBody>
      </p:sp>
    </p:spTree>
    <p:extLst>
      <p:ext uri="{BB962C8B-B14F-4D97-AF65-F5344CB8AC3E}">
        <p14:creationId xmlns:p14="http://schemas.microsoft.com/office/powerpoint/2010/main" val="14203114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0" name="Rectangle 1029">
            <a:extLst>
              <a:ext uri="{FF2B5EF4-FFF2-40B4-BE49-F238E27FC236}">
                <a16:creationId xmlns:a16="http://schemas.microsoft.com/office/drawing/2014/main" id="{C1DD1A8A-57D5-4A81-AD04-532B043C56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028" name="Picture 4" descr="Databricks Logo, symbol, meaning, history, PNG, brand">
            <a:extLst>
              <a:ext uri="{FF2B5EF4-FFF2-40B4-BE49-F238E27FC236}">
                <a16:creationId xmlns:a16="http://schemas.microsoft.com/office/drawing/2014/main" id="{6E8FD53F-5033-9313-A543-6525889C45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 y="-119433"/>
            <a:ext cx="12191999" cy="6857990"/>
          </a:xfrm>
          <a:prstGeom prst="rect">
            <a:avLst/>
          </a:prstGeom>
          <a:noFill/>
          <a:extLst>
            <a:ext uri="{909E8E84-426E-40DD-AFC4-6F175D3DCCD1}">
              <a14:hiddenFill xmlns:a14="http://schemas.microsoft.com/office/drawing/2010/main">
                <a:solidFill>
                  <a:srgbClr val="FFFFFF"/>
                </a:solidFill>
              </a14:hiddenFill>
            </a:ext>
          </a:extLst>
        </p:spPr>
      </p:pic>
      <p:sp>
        <p:nvSpPr>
          <p:cNvPr id="1035" name="Rectangle 1034">
            <a:extLst>
              <a:ext uri="{FF2B5EF4-FFF2-40B4-BE49-F238E27FC236}">
                <a16:creationId xmlns:a16="http://schemas.microsoft.com/office/drawing/2014/main" id="{007891EC-4501-44ED-A8C8-B11B6DB767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7602"/>
            <a:ext cx="12191999" cy="3162146"/>
          </a:xfrm>
          <a:prstGeom prst="rect">
            <a:avLst/>
          </a:prstGeom>
          <a:gradFill flip="none" rotWithShape="1">
            <a:gsLst>
              <a:gs pos="0">
                <a:srgbClr val="000000">
                  <a:alpha val="0"/>
                </a:srgbClr>
              </a:gs>
              <a:gs pos="25000">
                <a:srgbClr val="000000">
                  <a:alpha val="15000"/>
                </a:srgbClr>
              </a:gs>
              <a:gs pos="75000">
                <a:srgbClr val="000000">
                  <a:alpha val="15000"/>
                </a:srgbClr>
              </a:gs>
              <a:gs pos="50000">
                <a:srgbClr val="000000">
                  <a:alpha val="30000"/>
                </a:srgbClr>
              </a:gs>
              <a:gs pos="100000">
                <a:srgbClr val="000000">
                  <a:alpha val="0"/>
                </a:srgb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84EFA16-E5A1-21E9-7681-A902647891CA}"/>
              </a:ext>
            </a:extLst>
          </p:cNvPr>
          <p:cNvSpPr>
            <a:spLocks noGrp="1"/>
          </p:cNvSpPr>
          <p:nvPr>
            <p:ph type="ctrTitle"/>
          </p:nvPr>
        </p:nvSpPr>
        <p:spPr>
          <a:xfrm>
            <a:off x="1063752" y="1047926"/>
            <a:ext cx="10058400" cy="3574778"/>
          </a:xfrm>
          <a:effectLst>
            <a:outerShdw blurRad="50800" dist="38100" dir="2700000" algn="tl" rotWithShape="0">
              <a:prstClr val="black">
                <a:alpha val="40000"/>
              </a:prstClr>
            </a:outerShdw>
          </a:effectLst>
        </p:spPr>
        <p:txBody>
          <a:bodyPr>
            <a:normAutofit/>
          </a:bodyPr>
          <a:lstStyle/>
          <a:p>
            <a:r>
              <a:rPr lang="en-GB" sz="5200" dirty="0">
                <a:solidFill>
                  <a:srgbClr val="0B2026"/>
                </a:solidFill>
              </a:rPr>
              <a:t>Mock Sales deck</a:t>
            </a:r>
          </a:p>
        </p:txBody>
      </p:sp>
    </p:spTree>
    <p:extLst>
      <p:ext uri="{BB962C8B-B14F-4D97-AF65-F5344CB8AC3E}">
        <p14:creationId xmlns:p14="http://schemas.microsoft.com/office/powerpoint/2010/main" val="10018133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FA4694D2-A28F-36E5-C6A8-5057884D74E1}"/>
              </a:ext>
            </a:extLst>
          </p:cNvPr>
          <p:cNvSpPr txBox="1"/>
          <p:nvPr/>
        </p:nvSpPr>
        <p:spPr>
          <a:xfrm>
            <a:off x="841248" y="256032"/>
            <a:ext cx="10506456" cy="1014984"/>
          </a:xfrm>
          <a:prstGeom prst="rect">
            <a:avLst/>
          </a:prstGeom>
        </p:spPr>
        <p:txBody>
          <a:bodyPr vert="horz" lIns="91440" tIns="45720" rIns="91440" bIns="45720" rtlCol="0" anchor="b">
            <a:normAutofit/>
          </a:bodyPr>
          <a:lstStyle/>
          <a:p>
            <a:pPr>
              <a:lnSpc>
                <a:spcPct val="90000"/>
              </a:lnSpc>
              <a:spcBef>
                <a:spcPct val="0"/>
              </a:spcBef>
              <a:spcAft>
                <a:spcPts val="600"/>
              </a:spcAft>
            </a:pPr>
            <a:r>
              <a:rPr lang="en-US" sz="4400" kern="1200">
                <a:solidFill>
                  <a:schemeClr val="tx1"/>
                </a:solidFill>
                <a:latin typeface="+mj-lt"/>
                <a:ea typeface="+mj-ea"/>
                <a:cs typeface="+mj-cs"/>
              </a:rPr>
              <a:t>Agenda</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2" name="Rectangle 11">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14" name="Content Placeholder 2">
            <a:extLst>
              <a:ext uri="{FF2B5EF4-FFF2-40B4-BE49-F238E27FC236}">
                <a16:creationId xmlns:a16="http://schemas.microsoft.com/office/drawing/2014/main" id="{BA82FE4B-B0AC-E2C0-CF05-352E26A2EB84}"/>
              </a:ext>
            </a:extLst>
          </p:cNvPr>
          <p:cNvGraphicFramePr>
            <a:graphicFrameLocks noGrp="1"/>
          </p:cNvGraphicFramePr>
          <p:nvPr>
            <p:ph idx="1"/>
            <p:extLst>
              <p:ext uri="{D42A27DB-BD31-4B8C-83A1-F6EECF244321}">
                <p14:modId xmlns:p14="http://schemas.microsoft.com/office/powerpoint/2010/main" val="4095620982"/>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7006076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6E397B-F8C6-E78F-596A-ECDBFE7269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B10AAC5-D8D6-5780-53AD-1E4C017441C6}"/>
              </a:ext>
            </a:extLst>
          </p:cNvPr>
          <p:cNvSpPr>
            <a:spLocks noGrp="1"/>
          </p:cNvSpPr>
          <p:nvPr>
            <p:ph type="title"/>
          </p:nvPr>
        </p:nvSpPr>
        <p:spPr>
          <a:xfrm>
            <a:off x="841248" y="256032"/>
            <a:ext cx="10506456" cy="1014984"/>
          </a:xfrm>
        </p:spPr>
        <p:txBody>
          <a:bodyPr anchor="b">
            <a:normAutofit/>
          </a:bodyPr>
          <a:lstStyle/>
          <a:p>
            <a:r>
              <a:rPr lang="en-GB" sz="3100" dirty="0"/>
              <a:t>Unlocking Value For Your Business Stakeholders.</a:t>
            </a:r>
          </a:p>
        </p:txBody>
      </p:sp>
      <p:graphicFrame>
        <p:nvGraphicFramePr>
          <p:cNvPr id="54" name="Content Placeholder 2">
            <a:extLst>
              <a:ext uri="{FF2B5EF4-FFF2-40B4-BE49-F238E27FC236}">
                <a16:creationId xmlns:a16="http://schemas.microsoft.com/office/drawing/2014/main" id="{25B4FF61-3386-846A-8F25-BC4937FA1526}"/>
              </a:ext>
            </a:extLst>
          </p:cNvPr>
          <p:cNvGraphicFramePr>
            <a:graphicFrameLocks noGrp="1"/>
          </p:cNvGraphicFramePr>
          <p:nvPr>
            <p:ph idx="1"/>
            <p:extLst>
              <p:ext uri="{D42A27DB-BD31-4B8C-83A1-F6EECF244321}">
                <p14:modId xmlns:p14="http://schemas.microsoft.com/office/powerpoint/2010/main" val="3043155255"/>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068351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58C7248-C008-F307-0C35-4D227BDC422D}"/>
              </a:ext>
            </a:extLst>
          </p:cNvPr>
          <p:cNvSpPr>
            <a:spLocks noGrp="1"/>
          </p:cNvSpPr>
          <p:nvPr>
            <p:ph type="title"/>
          </p:nvPr>
        </p:nvSpPr>
        <p:spPr>
          <a:xfrm>
            <a:off x="841248" y="256032"/>
            <a:ext cx="10506456" cy="1014984"/>
          </a:xfrm>
        </p:spPr>
        <p:txBody>
          <a:bodyPr anchor="b">
            <a:normAutofit/>
          </a:bodyPr>
          <a:lstStyle/>
          <a:p>
            <a:r>
              <a:rPr lang="en-GB" sz="3700"/>
              <a:t>A Single Governance Layer for All Data, Models And AI</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A61FBA19-F6A1-5879-0EC4-6756DD8B4FC6}"/>
              </a:ext>
            </a:extLst>
          </p:cNvPr>
          <p:cNvGraphicFramePr>
            <a:graphicFrameLocks noGrp="1"/>
          </p:cNvGraphicFramePr>
          <p:nvPr>
            <p:ph idx="1"/>
            <p:extLst>
              <p:ext uri="{D42A27DB-BD31-4B8C-83A1-F6EECF244321}">
                <p14:modId xmlns:p14="http://schemas.microsoft.com/office/powerpoint/2010/main" val="90338035"/>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4333992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E348CD9-D88B-674B-3F5D-6A6D234036DD}"/>
              </a:ext>
            </a:extLst>
          </p:cNvPr>
          <p:cNvSpPr>
            <a:spLocks noGrp="1"/>
          </p:cNvSpPr>
          <p:nvPr>
            <p:ph type="title"/>
          </p:nvPr>
        </p:nvSpPr>
        <p:spPr>
          <a:xfrm>
            <a:off x="841248" y="256032"/>
            <a:ext cx="10506456" cy="1014984"/>
          </a:xfrm>
        </p:spPr>
        <p:txBody>
          <a:bodyPr anchor="b">
            <a:normAutofit/>
          </a:bodyPr>
          <a:lstStyle/>
          <a:p>
            <a:r>
              <a:rPr lang="en-GB" sz="3100"/>
              <a:t>Automate ETL Pipelines In A Meaningful Way and Deliver Projects Faster</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249FED8B-BED5-C703-8C06-C5A0F64339FC}"/>
              </a:ext>
            </a:extLst>
          </p:cNvPr>
          <p:cNvGraphicFramePr>
            <a:graphicFrameLocks noGrp="1"/>
          </p:cNvGraphicFramePr>
          <p:nvPr>
            <p:ph idx="1"/>
            <p:extLst>
              <p:ext uri="{D42A27DB-BD31-4B8C-83A1-F6EECF244321}">
                <p14:modId xmlns:p14="http://schemas.microsoft.com/office/powerpoint/2010/main" val="3704510801"/>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165837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387A669-3CB7-4813-7F0A-3ADF6A9717F9}"/>
              </a:ext>
            </a:extLst>
          </p:cNvPr>
          <p:cNvSpPr>
            <a:spLocks noGrp="1"/>
          </p:cNvSpPr>
          <p:nvPr>
            <p:ph type="title"/>
          </p:nvPr>
        </p:nvSpPr>
        <p:spPr>
          <a:xfrm>
            <a:off x="841248" y="256032"/>
            <a:ext cx="10506456" cy="1014984"/>
          </a:xfrm>
        </p:spPr>
        <p:txBody>
          <a:bodyPr anchor="b">
            <a:normAutofit/>
          </a:bodyPr>
          <a:lstStyle/>
          <a:p>
            <a:r>
              <a:rPr lang="en-GB" sz="3100"/>
              <a:t>LSEG + Databricks — Accelerating AI‑Ready Market Data and Agentic Analytics</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CC971733-804E-CBBF-A6F0-DD3855EB6440}"/>
              </a:ext>
            </a:extLst>
          </p:cNvPr>
          <p:cNvGraphicFramePr>
            <a:graphicFrameLocks noGrp="1"/>
          </p:cNvGraphicFramePr>
          <p:nvPr>
            <p:ph idx="1"/>
            <p:extLst>
              <p:ext uri="{D42A27DB-BD31-4B8C-83A1-F6EECF244321}">
                <p14:modId xmlns:p14="http://schemas.microsoft.com/office/powerpoint/2010/main" val="969741231"/>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9760425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2273517-A378-BB13-3F30-E5A235E71DA5}"/>
              </a:ext>
            </a:extLst>
          </p:cNvPr>
          <p:cNvSpPr>
            <a:spLocks noGrp="1"/>
          </p:cNvSpPr>
          <p:nvPr>
            <p:ph type="title"/>
          </p:nvPr>
        </p:nvSpPr>
        <p:spPr>
          <a:xfrm>
            <a:off x="838200" y="556995"/>
            <a:ext cx="10515600" cy="1133693"/>
          </a:xfrm>
        </p:spPr>
        <p:txBody>
          <a:bodyPr>
            <a:normAutofit/>
          </a:bodyPr>
          <a:lstStyle/>
          <a:p>
            <a:r>
              <a:rPr lang="en-GB" sz="5200"/>
              <a:t>Next steps</a:t>
            </a:r>
          </a:p>
        </p:txBody>
      </p:sp>
      <p:graphicFrame>
        <p:nvGraphicFramePr>
          <p:cNvPr id="7" name="Content Placeholder 2">
            <a:extLst>
              <a:ext uri="{FF2B5EF4-FFF2-40B4-BE49-F238E27FC236}">
                <a16:creationId xmlns:a16="http://schemas.microsoft.com/office/drawing/2014/main" id="{E5A71D94-99FC-8710-AB1B-466BDCF83EA6}"/>
              </a:ext>
            </a:extLst>
          </p:cNvPr>
          <p:cNvGraphicFramePr>
            <a:graphicFrameLocks noGrp="1"/>
          </p:cNvGraphicFramePr>
          <p:nvPr>
            <p:ph idx="1"/>
            <p:extLst>
              <p:ext uri="{D42A27DB-BD31-4B8C-83A1-F6EECF244321}">
                <p14:modId xmlns:p14="http://schemas.microsoft.com/office/powerpoint/2010/main" val="3893239006"/>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40937267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2561</TotalTime>
  <Words>1491</Words>
  <Application>Microsoft Office PowerPoint</Application>
  <PresentationFormat>Widescreen</PresentationFormat>
  <Paragraphs>59</Paragraphs>
  <Slides>7</Slides>
  <Notes>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Aptos Display</vt:lpstr>
      <vt:lpstr>Arial</vt:lpstr>
      <vt:lpstr>Calibri</vt:lpstr>
      <vt:lpstr>Office Theme</vt:lpstr>
      <vt:lpstr>Mock Sales deck</vt:lpstr>
      <vt:lpstr>PowerPoint Presentation</vt:lpstr>
      <vt:lpstr>Unlocking Value For Your Business Stakeholders.</vt:lpstr>
      <vt:lpstr>A Single Governance Layer for All Data, Models And AI</vt:lpstr>
      <vt:lpstr>Automate ETL Pipelines In A Meaningful Way and Deliver Projects Faster</vt:lpstr>
      <vt:lpstr>LSEG + Databricks — Accelerating AI‑Ready Market Data and Agentic Analytics</vt:lpstr>
      <vt:lpstr>Next steps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Cawthorne Sebastian (6th Form Student)</dc:creator>
  <cp:lastModifiedBy>seb cawthorne</cp:lastModifiedBy>
  <cp:revision>3</cp:revision>
  <dcterms:created xsi:type="dcterms:W3CDTF">2026-04-27T14:21:20Z</dcterms:created>
  <dcterms:modified xsi:type="dcterms:W3CDTF">2026-06-29T10:09:40Z</dcterms:modified>
</cp:coreProperties>
</file>